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FE9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A8864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64592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9A8A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FUNDAMENTOS Y ESTRATEGIAS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210312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3A2C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Visualización de Datos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48640" y="292608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6B5A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 Arte de Hacer Visible lo Invisible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48640" y="3566160"/>
            <a:ext cx="2286000" cy="36576"/>
          </a:xfrm>
          <a:prstGeom prst="rect">
            <a:avLst/>
          </a:prstGeom>
          <a:solidFill>
            <a:srgbClr val="A8864A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393192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8A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Incluye: Componentes • Percepción (Gestalt &amp; Tufte) • Validación Cruzada • GridSearchCV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466344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8A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Ciencia de Datos  |  Clase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FE9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A8A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A2C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Qué veremos hoy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1645920" cy="32004"/>
          </a:xfrm>
          <a:prstGeom prst="rect">
            <a:avLst/>
          </a:prstGeom>
          <a:solidFill>
            <a:srgbClr val="A8864A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37160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886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188720" y="13716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A2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¿Por qué visualizamos?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937760" y="137160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5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Percepción humana y el Cuarteto de Anscombe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196596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886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188720" y="1965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A2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 dato al menú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937760" y="196596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5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Flujo de trabajo y elección del gráfico correcto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256032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886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188720" y="2560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A2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Componentes efectivos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937760" y="256032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5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Datos, mensaje, forma visual y anotaciones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" y="315468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886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188720" y="31546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A2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Gestalt y Tufte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937760" y="315468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5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Principios de percepción y diseño limpio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57200" y="374904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886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188720" y="37490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A2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Validación Cruzada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937760" y="374904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5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K-Fold, Stratified y por qué no basta Train/Test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57200" y="434340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886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188720" y="4343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A2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GridSearchCV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937760" y="434340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5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Búsqueda exhaustiva de hiperparámetros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FE9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A8A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 ·  FUNDAMENTOS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A2C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¿Por qué visualizamos?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1371600" cy="27432"/>
          </a:xfrm>
          <a:prstGeom prst="rect">
            <a:avLst/>
          </a:prstGeom>
          <a:solidFill>
            <a:srgbClr val="A8864A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371600"/>
            <a:ext cx="3931920" cy="3291840"/>
          </a:xfrm>
          <a:prstGeom prst="roundRect">
            <a:avLst>
              <a:gd name="adj" fmla="val 2778"/>
            </a:avLst>
          </a:prstGeom>
          <a:solidFill>
            <a:srgbClr val="E6DFCE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55448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A2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problema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85800" y="1965960"/>
            <a:ext cx="34747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5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cerebro no evolucionó para procesar hojas de cálculo con un millón de filas. Evolucionó para detectar patrones en la naturaleza: movimiento, color, posición.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85800" y="3291840"/>
            <a:ext cx="3474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5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Cuando miramos una tabla, usamos atención serial (lenta). Cuando miramos barras de distinto tamaño, el cerebro usa procesamiento pre-atentivo: ya sabe cuál es mayor antes de ser consciente.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663440" y="1371600"/>
            <a:ext cx="4023360" cy="3291840"/>
          </a:xfrm>
          <a:prstGeom prst="roundRect">
            <a:avLst>
              <a:gd name="adj" fmla="val 2778"/>
            </a:avLst>
          </a:prstGeom>
          <a:solidFill>
            <a:srgbClr val="E6DFCE"/>
          </a:solidFill>
          <a:ln/>
        </p:spPr>
      </p:sp>
      <p:sp>
        <p:nvSpPr>
          <p:cNvPr id="10" name="Text 8"/>
          <p:cNvSpPr/>
          <p:nvPr/>
        </p:nvSpPr>
        <p:spPr>
          <a:xfrm>
            <a:off x="4892040" y="155448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A2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poder del canal visual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892040" y="1965960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5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visualización traduce números abstractos al lenguaje que el cerebro entiende instantáneamente.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892040" y="301752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886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Objetivo: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892040" y="3337560"/>
            <a:ext cx="3566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5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mostrar todo lo que hay en la base de datos, sino curar y dar contexto para que el usuario tome una decisión.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FE9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A8A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 ·  EJEMPLO CLÁSICO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A2C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 Cuarteto de Anscombe (1973)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1371600" cy="27432"/>
          </a:xfrm>
          <a:prstGeom prst="rect">
            <a:avLst/>
          </a:prstGeom>
          <a:solidFill>
            <a:srgbClr val="A8864A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280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5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Cuatro conjuntos de datos con las mismas estadísticas básicas (media, varianza, correlación). Si solo miras los números, parecen idénticos.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1920240"/>
            <a:ext cx="2011680" cy="2194560"/>
          </a:xfrm>
          <a:prstGeom prst="roundRect">
            <a:avLst>
              <a:gd name="adj" fmla="val 3636"/>
            </a:avLst>
          </a:prstGeom>
          <a:solidFill>
            <a:srgbClr val="E6DFCE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210312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886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Conjunto I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94360" y="2606040"/>
            <a:ext cx="17373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5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Línea recta con ruido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B5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Relación lineal clara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606040" y="1920240"/>
            <a:ext cx="2011680" cy="2194560"/>
          </a:xfrm>
          <a:prstGeom prst="roundRect">
            <a:avLst>
              <a:gd name="adj" fmla="val 3636"/>
            </a:avLst>
          </a:prstGeom>
          <a:solidFill>
            <a:srgbClr val="E6DFCE"/>
          </a:solidFill>
          <a:ln/>
        </p:spPr>
      </p:sp>
      <p:sp>
        <p:nvSpPr>
          <p:cNvPr id="10" name="Text 8"/>
          <p:cNvSpPr/>
          <p:nvPr/>
        </p:nvSpPr>
        <p:spPr>
          <a:xfrm>
            <a:off x="2743200" y="210312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886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Conjunto II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2743200" y="2606040"/>
            <a:ext cx="17373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5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Curva perfecta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B5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Relación no lineal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754880" y="1920240"/>
            <a:ext cx="2011680" cy="2194560"/>
          </a:xfrm>
          <a:prstGeom prst="roundRect">
            <a:avLst>
              <a:gd name="adj" fmla="val 3636"/>
            </a:avLst>
          </a:prstGeom>
          <a:solidFill>
            <a:srgbClr val="E6DFCE"/>
          </a:solidFill>
          <a:ln/>
        </p:spPr>
      </p:sp>
      <p:sp>
        <p:nvSpPr>
          <p:cNvPr id="13" name="Text 11"/>
          <p:cNvSpPr/>
          <p:nvPr/>
        </p:nvSpPr>
        <p:spPr>
          <a:xfrm>
            <a:off x="4892040" y="210312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886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Conjunto III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892040" y="2606040"/>
            <a:ext cx="17373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5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Línea + outlier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B5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punto distorsiona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903720" y="1920240"/>
            <a:ext cx="2011680" cy="2194560"/>
          </a:xfrm>
          <a:prstGeom prst="roundRect">
            <a:avLst>
              <a:gd name="adj" fmla="val 3636"/>
            </a:avLst>
          </a:prstGeom>
          <a:solidFill>
            <a:srgbClr val="E6DFCE"/>
          </a:solidFill>
          <a:ln/>
        </p:spPr>
      </p:sp>
      <p:sp>
        <p:nvSpPr>
          <p:cNvPr id="16" name="Text 14"/>
          <p:cNvSpPr/>
          <p:nvPr/>
        </p:nvSpPr>
        <p:spPr>
          <a:xfrm>
            <a:off x="7040880" y="210312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886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Conjunto IV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7040880" y="2606040"/>
            <a:ext cx="17373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5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Grupo vertical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B5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Todos X iguales excepto 1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57200" y="42976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3A2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Lección: Sin visualización habrías asumido que los cuatro grupos se comportaban igual. La visualización revela la verdadera estructura que los números ocultan.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FE9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A8A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 ·  PROCESO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A2C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Del inventario al menú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371600" cy="27432"/>
          </a:xfrm>
          <a:prstGeom prst="rect">
            <a:avLst/>
          </a:prstGeom>
          <a:solidFill>
            <a:srgbClr val="A8864A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097280"/>
            <a:ext cx="3931920" cy="1463040"/>
          </a:xfrm>
          <a:prstGeom prst="roundRect">
            <a:avLst>
              <a:gd name="adj" fmla="val 5000"/>
            </a:avLst>
          </a:prstGeom>
          <a:solidFill>
            <a:srgbClr val="E6DFCE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2344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A2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Datos crudos = Inventario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164592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5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Miles de productos en cajas, sin orden aparente. Nadie puede "comer" de un inventario. Es abrumador.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54880" y="1097280"/>
            <a:ext cx="3931920" cy="1463040"/>
          </a:xfrm>
          <a:prstGeom prst="roundRect">
            <a:avLst>
              <a:gd name="adj" fmla="val 5000"/>
            </a:avLst>
          </a:prstGeom>
          <a:solidFill>
            <a:srgbClr val="E6DFCE"/>
          </a:solidFill>
          <a:ln/>
        </p:spPr>
      </p:sp>
      <p:sp>
        <p:nvSpPr>
          <p:cNvPr id="9" name="Text 7"/>
          <p:cNvSpPr/>
          <p:nvPr/>
        </p:nvSpPr>
        <p:spPr>
          <a:xfrm>
            <a:off x="4937760" y="12344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A2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Visualización = Menú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937760" y="164592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5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chef (analista) selecciona ingredientes, los organiza por categorías y les da contexto (precios, descripciones).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960120" y="2834640"/>
            <a:ext cx="411480" cy="411480"/>
          </a:xfrm>
          <a:prstGeom prst="ellipse">
            <a:avLst/>
          </a:prstGeom>
          <a:solidFill>
            <a:srgbClr val="A8864A"/>
          </a:solidFill>
          <a:ln/>
        </p:spPr>
      </p:sp>
      <p:sp>
        <p:nvSpPr>
          <p:cNvPr id="12" name="Text 10"/>
          <p:cNvSpPr/>
          <p:nvPr/>
        </p:nvSpPr>
        <p:spPr>
          <a:xfrm>
            <a:off x="960120" y="2880360"/>
            <a:ext cx="411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7200" y="338328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A2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Recolectar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" y="370332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5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Números brutos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697480" y="2834640"/>
            <a:ext cx="411480" cy="411480"/>
          </a:xfrm>
          <a:prstGeom prst="ellipse">
            <a:avLst/>
          </a:prstGeom>
          <a:solidFill>
            <a:srgbClr val="A8864A"/>
          </a:solidFill>
          <a:ln/>
        </p:spPr>
      </p:sp>
      <p:sp>
        <p:nvSpPr>
          <p:cNvPr id="16" name="Text 14"/>
          <p:cNvSpPr/>
          <p:nvPr/>
        </p:nvSpPr>
        <p:spPr>
          <a:xfrm>
            <a:off x="2697480" y="2880360"/>
            <a:ext cx="411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194560" y="338328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A2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Limpiar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2194560" y="370332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5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Errores y duplicados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434840" y="2834640"/>
            <a:ext cx="411480" cy="411480"/>
          </a:xfrm>
          <a:prstGeom prst="ellipse">
            <a:avLst/>
          </a:prstGeom>
          <a:solidFill>
            <a:srgbClr val="A8864A"/>
          </a:solidFill>
          <a:ln/>
        </p:spPr>
      </p:sp>
      <p:sp>
        <p:nvSpPr>
          <p:cNvPr id="20" name="Text 18"/>
          <p:cNvSpPr/>
          <p:nvPr/>
        </p:nvSpPr>
        <p:spPr>
          <a:xfrm>
            <a:off x="4434840" y="2880360"/>
            <a:ext cx="411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931920" y="338328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A2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Elegir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931920" y="370332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5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gráfico adecuado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172200" y="2834640"/>
            <a:ext cx="411480" cy="411480"/>
          </a:xfrm>
          <a:prstGeom prst="ellipse">
            <a:avLst/>
          </a:prstGeom>
          <a:solidFill>
            <a:srgbClr val="A8864A"/>
          </a:solidFill>
          <a:ln/>
        </p:spPr>
      </p:sp>
      <p:sp>
        <p:nvSpPr>
          <p:cNvPr id="24" name="Text 22"/>
          <p:cNvSpPr/>
          <p:nvPr/>
        </p:nvSpPr>
        <p:spPr>
          <a:xfrm>
            <a:off x="6172200" y="2880360"/>
            <a:ext cx="411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669280" y="338328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A2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Mapear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669280" y="370332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5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Números → visuales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7909560" y="2834640"/>
            <a:ext cx="411480" cy="411480"/>
          </a:xfrm>
          <a:prstGeom prst="ellipse">
            <a:avLst/>
          </a:prstGeom>
          <a:solidFill>
            <a:srgbClr val="A8864A"/>
          </a:solidFill>
          <a:ln/>
        </p:spPr>
      </p:sp>
      <p:sp>
        <p:nvSpPr>
          <p:cNvPr id="28" name="Text 26"/>
          <p:cNvSpPr/>
          <p:nvPr/>
        </p:nvSpPr>
        <p:spPr>
          <a:xfrm>
            <a:off x="7909560" y="2880360"/>
            <a:ext cx="411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7406640" y="338328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A2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Comunicar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7406640" y="370332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5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Títulos y anotaciones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57200" y="4297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3A2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objetivo no es mostrar todo, sino curar y dar contexto para que el usuario pueda decidir.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FE9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A8A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 ·  ELECCIÓN DEL GRÁFICO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A2C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 pregunta define el gráfico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371600" cy="27432"/>
          </a:xfrm>
          <a:prstGeom prst="rect">
            <a:avLst/>
          </a:prstGeom>
          <a:solidFill>
            <a:srgbClr val="A8864A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097280"/>
            <a:ext cx="8229600" cy="822960"/>
          </a:xfrm>
          <a:prstGeom prst="roundRect">
            <a:avLst>
              <a:gd name="adj" fmla="val 6667"/>
            </a:avLst>
          </a:prstGeom>
          <a:solidFill>
            <a:srgbClr val="E6DFCE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1887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886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¿Quién vende más?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15087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A2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Barras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657600" y="123444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5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ojo mide longitudes desde una base común con gran precisión.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949440" y="132588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A8A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Ventas iPhone vs Android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011680"/>
            <a:ext cx="8229600" cy="822960"/>
          </a:xfrm>
          <a:prstGeom prst="roundRect">
            <a:avLst>
              <a:gd name="adj" fmla="val 6667"/>
            </a:avLst>
          </a:prstGeom>
          <a:solidFill>
            <a:srgbClr val="E6DFCE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1031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886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¿Cómo vamos en el tiempo?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0080" y="24231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A2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Líneas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657600" y="214884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5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Conectan puntos y crean sensación de continuidad y tendencia.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949440" y="224028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A8A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Precio de una acción 10 años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2926080"/>
            <a:ext cx="8229600" cy="822960"/>
          </a:xfrm>
          <a:prstGeom prst="roundRect">
            <a:avLst>
              <a:gd name="adj" fmla="val 6667"/>
            </a:avLst>
          </a:prstGeom>
          <a:solidFill>
            <a:srgbClr val="E6DFCE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30175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886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¿Cómo se divide el todo?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0080" y="3337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A2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Pastel (con cuidado)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3657600" y="306324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5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Solo 2-3 categorías. Más de eso → barras horizontales ordenadas.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949440" y="315468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A8A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Votos a favor vs en contra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3840480"/>
            <a:ext cx="8229600" cy="822960"/>
          </a:xfrm>
          <a:prstGeom prst="roundRect">
            <a:avLst>
              <a:gd name="adj" fmla="val 6667"/>
            </a:avLst>
          </a:prstGeom>
          <a:solidFill>
            <a:srgbClr val="E6DFCE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39319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886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¿Hay relación entre variables?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40080" y="42519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A2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Dispersión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3657600" y="397764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5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Detecta correlaciones: nube que sube → ambas crecen juntas.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949440" y="406908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A8A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Horas de estudio vs nota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FE9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A8A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 ·  COMPONENTES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A2C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Qué hace efectiva a una visualización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371600" cy="27432"/>
          </a:xfrm>
          <a:prstGeom prst="rect">
            <a:avLst/>
          </a:prstGeom>
          <a:solidFill>
            <a:srgbClr val="A8864A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097280"/>
            <a:ext cx="4114800" cy="1691640"/>
          </a:xfrm>
          <a:prstGeom prst="roundRect">
            <a:avLst>
              <a:gd name="adj" fmla="val 4324"/>
            </a:avLst>
          </a:prstGeom>
          <a:solidFill>
            <a:srgbClr val="E6DFCE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23444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886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Datos relevantes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1600200"/>
            <a:ext cx="37490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5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todos los datos son útiles. Selecciona solo los que responden la pregunta o hipótesis.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B5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Ej: elevación + precipitación para riesgo de inundación (no demografía general).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54880" y="1097280"/>
            <a:ext cx="4114800" cy="1691640"/>
          </a:xfrm>
          <a:prstGeom prst="roundRect">
            <a:avLst>
              <a:gd name="adj" fmla="val 4324"/>
            </a:avLst>
          </a:prstGeom>
          <a:solidFill>
            <a:srgbClr val="E6DFCE"/>
          </a:solidFill>
          <a:ln/>
        </p:spPr>
      </p:sp>
      <p:sp>
        <p:nvSpPr>
          <p:cNvPr id="9" name="Text 7"/>
          <p:cNvSpPr/>
          <p:nvPr/>
        </p:nvSpPr>
        <p:spPr>
          <a:xfrm>
            <a:off x="4937760" y="123444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886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Mensaje o insight central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937760" y="1600200"/>
            <a:ext cx="37490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5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 visualización debe tener un mensaje claro que el espectador entienda en segundos.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B5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Ej: "Las zonas con mayor densidad poblacional son más vulnerables a inundaciones".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2926080"/>
            <a:ext cx="4114800" cy="1691640"/>
          </a:xfrm>
          <a:prstGeom prst="roundRect">
            <a:avLst>
              <a:gd name="adj" fmla="val 4324"/>
            </a:avLst>
          </a:prstGeom>
          <a:solidFill>
            <a:srgbClr val="E6DFCE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306324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886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Forma visual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40080" y="3429000"/>
            <a:ext cx="37490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5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tipo de gráfico o mapa según naturaleza de los datos, audiencia y claridad.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B5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Ej: mapa coroplético para variaciones geográficas; barras para comparar categorías.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754880" y="2926080"/>
            <a:ext cx="4114800" cy="1691640"/>
          </a:xfrm>
          <a:prstGeom prst="roundRect">
            <a:avLst>
              <a:gd name="adj" fmla="val 4324"/>
            </a:avLst>
          </a:prstGeom>
          <a:solidFill>
            <a:srgbClr val="E6DFCE"/>
          </a:solidFill>
          <a:ln/>
        </p:spPr>
      </p:sp>
      <p:sp>
        <p:nvSpPr>
          <p:cNvPr id="15" name="Text 13"/>
          <p:cNvSpPr/>
          <p:nvPr/>
        </p:nvSpPr>
        <p:spPr>
          <a:xfrm>
            <a:off x="4937760" y="306324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886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Anotaciones y CTA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937760" y="3429000"/>
            <a:ext cx="37490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5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Etiquetas, flechas y textos que guían al punto clave. Llamadas a la acción invitan a decidir.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B5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Ej: flecha + "Área de alto riesgo — Priorizar intervenciones aquí".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FE9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A8A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 ·  PERCEPCIÓN Y DISEÑO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A2C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Gestalt + Edward Tufte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371600" cy="27432"/>
          </a:xfrm>
          <a:prstGeom prst="rect">
            <a:avLst/>
          </a:prstGeom>
          <a:solidFill>
            <a:srgbClr val="A8864A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5156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A2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Principios Gestalt clave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4114800" cy="548640"/>
          </a:xfrm>
          <a:prstGeom prst="roundRect">
            <a:avLst>
              <a:gd name="adj" fmla="val 10000"/>
            </a:avLst>
          </a:prstGeom>
          <a:solidFill>
            <a:srgbClr val="E6DFCE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536192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886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Proximidad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173736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5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Elementos cercanos se perciben como un grupo.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103120"/>
            <a:ext cx="4114800" cy="548640"/>
          </a:xfrm>
          <a:prstGeom prst="roundRect">
            <a:avLst>
              <a:gd name="adj" fmla="val 10000"/>
            </a:avLst>
          </a:prstGeom>
          <a:solidFill>
            <a:srgbClr val="E6DFCE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176272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886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Similitud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237744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5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Color, forma o tamaño similares se agrupan mentalmente.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743200"/>
            <a:ext cx="4114800" cy="548640"/>
          </a:xfrm>
          <a:prstGeom prst="roundRect">
            <a:avLst>
              <a:gd name="adj" fmla="val 10000"/>
            </a:avLst>
          </a:prstGeom>
          <a:solidFill>
            <a:srgbClr val="E6DFCE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2816352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886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Figura-Fondo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0080" y="301752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5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cerebro distingue el objeto principal del fondo.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846320" y="105156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A2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Principios de Edward Tufte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846320" y="1463040"/>
            <a:ext cx="3931920" cy="2468880"/>
          </a:xfrm>
          <a:prstGeom prst="roundRect">
            <a:avLst>
              <a:gd name="adj" fmla="val 2963"/>
            </a:avLst>
          </a:prstGeom>
          <a:solidFill>
            <a:srgbClr val="E6DFCE"/>
          </a:solidFill>
          <a:ln/>
        </p:spPr>
      </p:sp>
      <p:sp>
        <p:nvSpPr>
          <p:cNvPr id="17" name="Text 15"/>
          <p:cNvSpPr/>
          <p:nvPr/>
        </p:nvSpPr>
        <p:spPr>
          <a:xfrm>
            <a:off x="5029200" y="164592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3A2C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“Good design is clear thinking made visible.”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029200" y="2286000"/>
            <a:ext cx="35661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5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Minimizar el “chart junk” (ruido visual)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B5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Maximizar la densidad de datos útiles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B5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Anotaciones que apoyen la narrativa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B5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Claridad, precisión y eficiencia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57200" y="4297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3A2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Diseño accesible: contraste alto, paletas legibles (ColorBrewer), anotaciones claras.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FE9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A8A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 ·  ÉTICA Y ERRORES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A2C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Trampas que convierten un buen dato en mentira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371600" cy="27432"/>
          </a:xfrm>
          <a:prstGeom prst="rect">
            <a:avLst/>
          </a:prstGeom>
          <a:solidFill>
            <a:srgbClr val="A8864A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097280"/>
            <a:ext cx="8229600" cy="777240"/>
          </a:xfrm>
          <a:prstGeom prst="roundRect">
            <a:avLst>
              <a:gd name="adj" fmla="val 7059"/>
            </a:avLst>
          </a:prstGeom>
          <a:solidFill>
            <a:srgbClr val="E6DFCE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20700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886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Chart Junk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017520" y="123444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5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Efectos 3D, sombras, fondos con imágenes o demasiados colores. Distrae y puede distorsionar la percepción de las magnitudes.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965960"/>
            <a:ext cx="8229600" cy="777240"/>
          </a:xfrm>
          <a:prstGeom prst="roundRect">
            <a:avLst>
              <a:gd name="adj" fmla="val 7059"/>
            </a:avLst>
          </a:prstGeom>
          <a:solidFill>
            <a:srgbClr val="E6DFCE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07568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886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Ejes truncados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017520" y="210312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5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Eje Y que no empieza en cero. Una diferencia de 92 a 95 parece un abismo. En barras el eje de valor SIEMPRE empieza en 0.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2834640"/>
            <a:ext cx="8229600" cy="777240"/>
          </a:xfrm>
          <a:prstGeom prst="roundRect">
            <a:avLst>
              <a:gd name="adj" fmla="val 7059"/>
            </a:avLst>
          </a:prstGeom>
          <a:solidFill>
            <a:srgbClr val="E6DFCE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94436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886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Color sin significado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017520" y="297180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5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Rojo para ganancias y verde para pérdidas confunde (asociaciones culturales). El color debe ser funcional, no decorativo.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3703320"/>
            <a:ext cx="8229600" cy="777240"/>
          </a:xfrm>
          <a:prstGeom prst="roundRect">
            <a:avLst>
              <a:gd name="adj" fmla="val 7059"/>
            </a:avLst>
          </a:prstGeom>
          <a:solidFill>
            <a:srgbClr val="E6DFCE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81304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886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Abuso de pasteles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017520" y="384048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5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Más de 3-5 categorías hace ilegible el gráfico. Prefiere barras horizontales ordenadas de mayor a menor.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FE9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A8A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EJEMPLOS DEL MUNDO REAL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A2C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Visualización en acción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371600" cy="27432"/>
          </a:xfrm>
          <a:prstGeom prst="rect">
            <a:avLst/>
          </a:prstGeom>
          <a:solidFill>
            <a:srgbClr val="A8864A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097280"/>
            <a:ext cx="8229600" cy="1097280"/>
          </a:xfrm>
          <a:prstGeom prst="roundRect">
            <a:avLst>
              <a:gd name="adj" fmla="val 6667"/>
            </a:avLst>
          </a:prstGeom>
          <a:solidFill>
            <a:srgbClr val="E6DFCE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23444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886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Johns Hopkins – COVID-19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155448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5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Mapa interactivo con círculos de tamaño proporcional a casos. Convertía millones de reportes en “puntos calientes” visibles al instante. Gobiernos enviaban recursos donde más se necesitaban. Lección: una buena visualización puede salvar vidas.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286000"/>
            <a:ext cx="8229600" cy="1097280"/>
          </a:xfrm>
          <a:prstGeom prst="roundRect">
            <a:avLst>
              <a:gd name="adj" fmla="val 6667"/>
            </a:avLst>
          </a:prstGeom>
          <a:solidFill>
            <a:srgbClr val="E6DFCE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42316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886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Netflix – Contenidos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40080" y="274320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5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Visualizan en qué minuto exacto la gente deja de ver un episodio y qué géneros se combinan. Si “Drama” + “Documentales de crímenes” co-ocurren, producen series que mezclan ambos. Lección: dirige inversiones de miles de millones.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3474720"/>
            <a:ext cx="8229600" cy="1097280"/>
          </a:xfrm>
          <a:prstGeom prst="roundRect">
            <a:avLst>
              <a:gd name="adj" fmla="val 6667"/>
            </a:avLst>
          </a:prstGeom>
          <a:solidFill>
            <a:srgbClr val="E6DFCE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361188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886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Data Studio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40080" y="393192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5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Democratiza datos: un dueño de pastelería ve un gráfico de barras y entiende que la mayoría de clientes llega a las 15:00 los jueves → ajusta producción. Antes solo expertos SQL podían entender el tráfico.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FE9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A8A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PUENTE HACIA MACHINE LEARNING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A2C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 contar historias a predecir el futuro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1371600" cy="27432"/>
          </a:xfrm>
          <a:prstGeom prst="rect">
            <a:avLst/>
          </a:prstGeom>
          <a:solidFill>
            <a:srgbClr val="A8864A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4630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5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Hasta aquí: visualizamos para encontrar patrones y comunicar insights.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6B5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Ahora: usamos esos mismos datos para entrenar modelos que generalicen y predigan.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2377440"/>
            <a:ext cx="8229600" cy="2194560"/>
          </a:xfrm>
          <a:prstGeom prst="roundRect">
            <a:avLst>
              <a:gd name="adj" fmla="val 4167"/>
            </a:avLst>
          </a:prstGeom>
          <a:solidFill>
            <a:srgbClr val="E6DFCE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260604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A2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Dos herramientas esenciales para modelos robustos: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310896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5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Validación Cruzada  →  estimar el desempeño real sin “suerte” de una sola partición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31520" y="361188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5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GridSearchCV  →  encontrar automáticamente los mejores hiperparámetros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3A2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 estas prácticas, un modelo puede parecer excelente… y fallar en producción.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FE9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A8A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 ·  VALIDACIÓN CRUZADA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A2C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¿Por qué no basta Train / Test?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371600" cy="27432"/>
          </a:xfrm>
          <a:prstGeom prst="rect">
            <a:avLst/>
          </a:prstGeom>
          <a:solidFill>
            <a:srgbClr val="A8864A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972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5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Analogía: entrenar para una maratón solo en una pista plana y soleada. El día de la carrera hay colinas, lluvia y viento → tu entrenamiento no sirve.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1783080"/>
            <a:ext cx="4023360" cy="2560320"/>
          </a:xfrm>
          <a:prstGeom prst="roundRect">
            <a:avLst>
              <a:gd name="adj" fmla="val 3571"/>
            </a:avLst>
          </a:prstGeom>
          <a:solidFill>
            <a:srgbClr val="E6DFCE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9659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886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Riesgo 1: Variabilidad del azar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0080" y="2468880"/>
            <a:ext cx="36576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5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 los datos son pocos, un par de outliers en el Test pueden desplomar la métrica aunque el modelo sea bueno. Una sola división es una “fotografía estática”.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663440" y="1783080"/>
            <a:ext cx="4023360" cy="2560320"/>
          </a:xfrm>
          <a:prstGeom prst="roundRect">
            <a:avLst>
              <a:gd name="adj" fmla="val 3571"/>
            </a:avLst>
          </a:prstGeom>
          <a:solidFill>
            <a:srgbClr val="E6DFCE"/>
          </a:solidFill>
          <a:ln/>
        </p:spPr>
      </p:sp>
      <p:sp>
        <p:nvSpPr>
          <p:cNvPr id="10" name="Text 8"/>
          <p:cNvSpPr/>
          <p:nvPr/>
        </p:nvSpPr>
        <p:spPr>
          <a:xfrm>
            <a:off x="4846320" y="19659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886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Riesgo 2: Sobreajuste al Test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846320" y="2468880"/>
            <a:ext cx="36576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5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 ajustas el modelo muchas veces mirando el mismo Test, terminas “enseñándole” los secretos de ese 20%. Pierdes capacidad de generalizar a datos nuevos del mundo real.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EFE9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A8A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 ·  K-FOLD CROSS-VALIDATION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4114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A2C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 estándar de la industria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1371600" cy="27432"/>
          </a:xfrm>
          <a:prstGeom prst="rect">
            <a:avLst/>
          </a:prstGeom>
          <a:solidFill>
            <a:srgbClr val="A8864A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058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5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Dividimos el dataset en K partes iguales (folds). Cada fold se usa una vez como validación y el resto como entrenamiento.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1554480"/>
            <a:ext cx="1645920" cy="1554480"/>
          </a:xfrm>
          <a:prstGeom prst="roundRect">
            <a:avLst>
              <a:gd name="adj" fmla="val 3529"/>
            </a:avLst>
          </a:prstGeom>
          <a:solidFill>
            <a:srgbClr val="E6DFCE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69164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A886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Fold 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2057400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5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Entrena: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B5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2-3-4-5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265176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A2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Valida: 1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103120" y="1554480"/>
            <a:ext cx="1645920" cy="1554480"/>
          </a:xfrm>
          <a:prstGeom prst="roundRect">
            <a:avLst>
              <a:gd name="adj" fmla="val 3529"/>
            </a:avLst>
          </a:prstGeom>
          <a:solidFill>
            <a:srgbClr val="E6DFCE"/>
          </a:solidFill>
          <a:ln/>
        </p:spPr>
      </p:sp>
      <p:sp>
        <p:nvSpPr>
          <p:cNvPr id="11" name="Text 9"/>
          <p:cNvSpPr/>
          <p:nvPr/>
        </p:nvSpPr>
        <p:spPr>
          <a:xfrm>
            <a:off x="2194560" y="169164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A886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Fold 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194560" y="2057400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5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Entrena: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B5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1-3-4-5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194560" y="265176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A2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Valida: 2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840480" y="1554480"/>
            <a:ext cx="1645920" cy="1554480"/>
          </a:xfrm>
          <a:prstGeom prst="roundRect">
            <a:avLst>
              <a:gd name="adj" fmla="val 3529"/>
            </a:avLst>
          </a:prstGeom>
          <a:solidFill>
            <a:srgbClr val="E6DFCE"/>
          </a:solidFill>
          <a:ln/>
        </p:spPr>
      </p:sp>
      <p:sp>
        <p:nvSpPr>
          <p:cNvPr id="15" name="Text 13"/>
          <p:cNvSpPr/>
          <p:nvPr/>
        </p:nvSpPr>
        <p:spPr>
          <a:xfrm>
            <a:off x="3931920" y="169164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A886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Fold 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931920" y="2057400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5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Entrena: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B5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1-2-4-5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931920" y="265176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A2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Valida: 3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577840" y="1554480"/>
            <a:ext cx="1645920" cy="1554480"/>
          </a:xfrm>
          <a:prstGeom prst="roundRect">
            <a:avLst>
              <a:gd name="adj" fmla="val 3529"/>
            </a:avLst>
          </a:prstGeom>
          <a:solidFill>
            <a:srgbClr val="E6DFCE"/>
          </a:solidFill>
          <a:ln/>
        </p:spPr>
      </p:sp>
      <p:sp>
        <p:nvSpPr>
          <p:cNvPr id="19" name="Text 17"/>
          <p:cNvSpPr/>
          <p:nvPr/>
        </p:nvSpPr>
        <p:spPr>
          <a:xfrm>
            <a:off x="5669280" y="169164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A886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Fold 4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669280" y="2057400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5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Entrena: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B5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1-2-3-5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669280" y="265176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A2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Valida: 4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315200" y="1554480"/>
            <a:ext cx="1645920" cy="1554480"/>
          </a:xfrm>
          <a:prstGeom prst="roundRect">
            <a:avLst>
              <a:gd name="adj" fmla="val 3529"/>
            </a:avLst>
          </a:prstGeom>
          <a:solidFill>
            <a:srgbClr val="E6DFCE"/>
          </a:solidFill>
          <a:ln/>
        </p:spPr>
      </p:sp>
      <p:sp>
        <p:nvSpPr>
          <p:cNvPr id="23" name="Text 21"/>
          <p:cNvSpPr/>
          <p:nvPr/>
        </p:nvSpPr>
        <p:spPr>
          <a:xfrm>
            <a:off x="7406640" y="169164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A886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Fold 5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406640" y="2057400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5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Entrena: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B5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1-2-3-4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406640" y="265176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A2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Valida: 5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57200" y="32918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A2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 final: 5 métricas → promedio + desviación estándar. Un buen modelo tiene promedio alto y desviación baja (estable).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457200" y="3840480"/>
            <a:ext cx="8229600" cy="914400"/>
          </a:xfrm>
          <a:prstGeom prst="roundRect">
            <a:avLst>
              <a:gd name="adj" fmla="val 8000"/>
            </a:avLst>
          </a:prstGeom>
          <a:solidFill>
            <a:srgbClr val="E6DFCE"/>
          </a:solidFill>
          <a:ln/>
        </p:spPr>
      </p:sp>
      <p:sp>
        <p:nvSpPr>
          <p:cNvPr id="28" name="Text 26"/>
          <p:cNvSpPr/>
          <p:nvPr/>
        </p:nvSpPr>
        <p:spPr>
          <a:xfrm>
            <a:off x="640080" y="4023360"/>
            <a:ext cx="7863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5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Valores típicos: K = 5 o K = 10. Cada dato participa en entrenamiento y en validación. Así estimamos el desempeño real de forma más honesta.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EFE9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A8A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 ·  VARIANTES IMPORTANTES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A2C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Stratified K-Fold y Leave-One-Out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371600" cy="27432"/>
          </a:xfrm>
          <a:prstGeom prst="rect">
            <a:avLst/>
          </a:prstGeom>
          <a:solidFill>
            <a:srgbClr val="A8864A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097280"/>
            <a:ext cx="8229600" cy="2011680"/>
          </a:xfrm>
          <a:prstGeom prst="roundRect">
            <a:avLst>
              <a:gd name="adj" fmla="val 4545"/>
            </a:avLst>
          </a:prstGeom>
          <a:solidFill>
            <a:srgbClr val="E6DFCE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28016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886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Stratified K-Fold (regla de oro en clasificación)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1691640"/>
            <a:ext cx="78638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5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Cuando las clases están desbalanceadas (ej. fraude 1% vs legítimo 99%), un K-Fold normal puede dejar un fold de validación sin ningún caso de fraude → métrica inútil.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B5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Stratified garantiza que cada fold mantenga la misma proporción de clases que el dataset original. Siempre úsalo en problemas de clasificación.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3291840"/>
            <a:ext cx="8229600" cy="1463040"/>
          </a:xfrm>
          <a:prstGeom prst="roundRect">
            <a:avLst>
              <a:gd name="adj" fmla="val 6250"/>
            </a:avLst>
          </a:prstGeom>
          <a:solidFill>
            <a:srgbClr val="E6DFCE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347472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886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Leave-One-Out (LOOCV)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0080" y="384048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5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 = n (número de filas). Entrenas con n-1 y validas con 1. Útil solo con muy pocos datos (estudios médicos con 20 pacientes). Computacionalmente caro: no usarlo con datasets grandes.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EFE9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A8A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 ·  BUENAS PRÁCTICAS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A2C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Errores comunes con Cross-Validation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371600" cy="27432"/>
          </a:xfrm>
          <a:prstGeom prst="rect">
            <a:avLst/>
          </a:prstGeom>
          <a:solidFill>
            <a:srgbClr val="A8864A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097280"/>
            <a:ext cx="8229600" cy="1051560"/>
          </a:xfrm>
          <a:prstGeom prst="roundRect">
            <a:avLst>
              <a:gd name="adj" fmla="val 6957"/>
            </a:avLst>
          </a:prstGeom>
          <a:solidFill>
            <a:srgbClr val="E6DFCE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23444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45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 Creer que la CV entrena el modelo final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60020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5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La CV solo evalúa. Después de elegir algoritmo/hiperparámetros, re-entrena con TODO el set de entrenamiento.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2240280"/>
            <a:ext cx="8229600" cy="1051560"/>
          </a:xfrm>
          <a:prstGeom prst="roundRect">
            <a:avLst>
              <a:gd name="adj" fmla="val 6957"/>
            </a:avLst>
          </a:prstGeom>
          <a:solidFill>
            <a:srgbClr val="E6DFCE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37744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45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 No guardar un Hold-out set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274320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5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Separa 15-20% al inicio y no lo toques. Usa el 80% para CV. Solo al final prueba una vez contra el hold-out.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3383280"/>
            <a:ext cx="8229600" cy="1051560"/>
          </a:xfrm>
          <a:prstGeom prst="roundRect">
            <a:avLst>
              <a:gd name="adj" fmla="val 6957"/>
            </a:avLst>
          </a:prstGeom>
          <a:solidFill>
            <a:srgbClr val="E6DFCE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352044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45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 No estratificar en clasificación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0080" y="388620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5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Sin estratificación las métricas (F1, AUC) varían salvajemente entre folds por azar en la distribución de clases.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EFE9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A8A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 ·  GRIDSEARCHCV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A2C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Parámetros vs Hiperparámetros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371600" cy="27432"/>
          </a:xfrm>
          <a:prstGeom prst="rect">
            <a:avLst/>
          </a:prstGeom>
          <a:solidFill>
            <a:srgbClr val="A8864A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188720"/>
            <a:ext cx="4023360" cy="3200400"/>
          </a:xfrm>
          <a:prstGeom prst="roundRect">
            <a:avLst>
              <a:gd name="adj" fmla="val 2857"/>
            </a:avLst>
          </a:prstGeom>
          <a:solidFill>
            <a:srgbClr val="E6DFCE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3716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886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Parámetros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1920240"/>
            <a:ext cx="3657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5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Valores que el modelo aprende automáticamente de los datos durante el entrenamiento.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B5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Ejemplos: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B5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Coeficientes de una regresión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B5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Pesos de una red neuronal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B5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División de nodos en un árbol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B5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Tú no los configuras: el algoritmo los ajusta.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663440" y="1188720"/>
            <a:ext cx="4023360" cy="3200400"/>
          </a:xfrm>
          <a:prstGeom prst="roundRect">
            <a:avLst>
              <a:gd name="adj" fmla="val 2857"/>
            </a:avLst>
          </a:prstGeom>
          <a:solidFill>
            <a:srgbClr val="E6DFCE"/>
          </a:solidFill>
          <a:ln/>
        </p:spPr>
      </p:sp>
      <p:sp>
        <p:nvSpPr>
          <p:cNvPr id="9" name="Text 7"/>
          <p:cNvSpPr/>
          <p:nvPr/>
        </p:nvSpPr>
        <p:spPr>
          <a:xfrm>
            <a:off x="4846320" y="13716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886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Hiperparámetros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846320" y="1920240"/>
            <a:ext cx="3657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5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“Perillas” que configuras ANTES de entrenar.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B5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Ejemplos: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B5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n_estimators (nº de árboles)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B5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max_depth (profundidad máxima)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B5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learning_rate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B5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 o gamma en SVM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B5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Afectan la capacidad del modelo y el sobreajuste.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EFE9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A8A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 ·  GRIDSEARCHCV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4114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A2C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Búsqueda exhaustiva automatizada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1371600" cy="27432"/>
          </a:xfrm>
          <a:prstGeom prst="rect">
            <a:avLst/>
          </a:prstGeom>
          <a:solidFill>
            <a:srgbClr val="A8864A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5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ajuste manual es lento, propenso a errores y no sabe si el resultado fue “buena suerte” de una partición.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508760"/>
            <a:ext cx="4023360" cy="1828800"/>
          </a:xfrm>
          <a:prstGeom prst="roundRect">
            <a:avLst>
              <a:gd name="adj" fmla="val 4000"/>
            </a:avLst>
          </a:prstGeom>
          <a:solidFill>
            <a:srgbClr val="E6DFCE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6916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886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Grid (Rejilla)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2148840"/>
            <a:ext cx="3657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5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Defines una lista de valores para cada hiperparámetro. El sistema prueba TODAS las combinaciones posibles.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663440" y="1508760"/>
            <a:ext cx="4023360" cy="1828800"/>
          </a:xfrm>
          <a:prstGeom prst="roundRect">
            <a:avLst>
              <a:gd name="adj" fmla="val 4000"/>
            </a:avLst>
          </a:prstGeom>
          <a:solidFill>
            <a:srgbClr val="E6DFCE"/>
          </a:solidFill>
          <a:ln/>
        </p:spPr>
      </p:sp>
      <p:sp>
        <p:nvSpPr>
          <p:cNvPr id="10" name="Text 8"/>
          <p:cNvSpPr/>
          <p:nvPr/>
        </p:nvSpPr>
        <p:spPr>
          <a:xfrm>
            <a:off x="4846320" y="16916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886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CV (Cross-Validation)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846320" y="2148840"/>
            <a:ext cx="3657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5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cada combinación no entrena una sola vez: hace validación cruzada. Así elige parámetros que generalizan, no que tuvieron suerte.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3566160"/>
            <a:ext cx="8229600" cy="1188720"/>
          </a:xfrm>
          <a:prstGeom prst="roundRect">
            <a:avLst>
              <a:gd name="adj" fmla="val 6154"/>
            </a:avLst>
          </a:prstGeom>
          <a:solidFill>
            <a:srgbClr val="E6DFCE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70332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2C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Ejemplo: param_grid = {'n_estimators': [10, 50], 'max_depth': [2, 5]}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0080" y="411480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5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4 combinaciones × K folds = 4×K entrenamientos. Luego elige la mejor según el score promedio de CV.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EFE9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A8A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 ·  DESPUÉS DE .fit()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A2C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Qué te entrega GridSearchCV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371600" cy="27432"/>
          </a:xfrm>
          <a:prstGeom prst="rect">
            <a:avLst/>
          </a:prstGeom>
          <a:solidFill>
            <a:srgbClr val="A8864A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097280"/>
            <a:ext cx="8229600" cy="777240"/>
          </a:xfrm>
          <a:prstGeom prst="roundRect">
            <a:avLst>
              <a:gd name="adj" fmla="val 7059"/>
            </a:avLst>
          </a:prstGeom>
          <a:solidFill>
            <a:srgbClr val="E6DFCE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23444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886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best_params_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657600" y="128016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5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Diccionario con la combinación ganadora de hiperparámetros.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965960"/>
            <a:ext cx="8229600" cy="777240"/>
          </a:xfrm>
          <a:prstGeom prst="roundRect">
            <a:avLst>
              <a:gd name="adj" fmla="val 7059"/>
            </a:avLst>
          </a:prstGeom>
          <a:solidFill>
            <a:srgbClr val="E6DFCE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10312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886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best_score_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657600" y="214884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5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Promedio de la métrica (accuracy, F1, etc.) de la mejor combinación durante la CV.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2834640"/>
            <a:ext cx="8229600" cy="777240"/>
          </a:xfrm>
          <a:prstGeom prst="roundRect">
            <a:avLst>
              <a:gd name="adj" fmla="val 7059"/>
            </a:avLst>
          </a:prstGeom>
          <a:solidFill>
            <a:srgbClr val="E6DFCE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97180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886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best_estimator_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657600" y="301752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5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modelo final ya entrenado con los mejores parámetros sobre todo el conjunto de entrenamiento, listo para predecir.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3703320"/>
            <a:ext cx="8229600" cy="777240"/>
          </a:xfrm>
          <a:prstGeom prst="roundRect">
            <a:avLst>
              <a:gd name="adj" fmla="val 7059"/>
            </a:avLst>
          </a:prstGeom>
          <a:solidFill>
            <a:srgbClr val="E6DFCE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84048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886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cv_results_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657600" y="388620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5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Tabla completa con todos los scores de cada combinación y cada fold (útil para análisis).</a:t>
            </a:r>
            <a:endParaRPr 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EFE9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A8A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SÍNTESIS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A2C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Puntos clave para llevarte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371600" cy="27432"/>
          </a:xfrm>
          <a:prstGeom prst="rect">
            <a:avLst/>
          </a:prstGeom>
          <a:solidFill>
            <a:srgbClr val="A8864A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143000"/>
            <a:ext cx="365760" cy="365760"/>
          </a:xfrm>
          <a:prstGeom prst="ellipse">
            <a:avLst/>
          </a:prstGeom>
          <a:solidFill>
            <a:srgbClr val="A8864A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170432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1143000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A2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Visualizamos para encontrar patrones que las tablas ocultan (Anscombe).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1737360"/>
            <a:ext cx="365760" cy="365760"/>
          </a:xfrm>
          <a:prstGeom prst="ellipse">
            <a:avLst/>
          </a:prstGeom>
          <a:solidFill>
            <a:srgbClr val="A8864A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764792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05840" y="1737360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A2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gráfico depende de la pregunta: barras, líneas, dispersión, pastel con cuidado.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57200" y="2331720"/>
            <a:ext cx="365760" cy="365760"/>
          </a:xfrm>
          <a:prstGeom prst="ellipse">
            <a:avLst/>
          </a:prstGeom>
          <a:solidFill>
            <a:srgbClr val="A8864A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2359152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05840" y="2331720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A2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Claridad &gt; estética. Menos chart junk, ejes honestos, color funcional.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457200" y="2926080"/>
            <a:ext cx="365760" cy="365760"/>
          </a:xfrm>
          <a:prstGeom prst="ellipse">
            <a:avLst/>
          </a:prstGeom>
          <a:solidFill>
            <a:srgbClr val="A8864A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2953512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05840" y="2926080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A2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Componentes: datos relevantes + mensaje + forma + anotaciones/CTA.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457200" y="3520440"/>
            <a:ext cx="365760" cy="365760"/>
          </a:xfrm>
          <a:prstGeom prst="ellipse">
            <a:avLst/>
          </a:prstGeom>
          <a:solidFill>
            <a:srgbClr val="A8864A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3547872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05840" y="3520440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A2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Validación Cruzada (K-Fold / Stratified) da una estimación honesta del desempeño.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457200" y="4114800"/>
            <a:ext cx="365760" cy="365760"/>
          </a:xfrm>
          <a:prstGeom prst="ellipse">
            <a:avLst/>
          </a:prstGeom>
          <a:solidFill>
            <a:srgbClr val="A8864A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4142232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005840" y="4114800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A2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GridSearchCV combina rejilla de hiperparámetros + CV para encontrar el mejor modelo.</a:t>
            </a:r>
            <a:endParaRPr lang="en-US" sz="15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EFE9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A8864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spc="100" kern="0" dirty="0">
                <a:solidFill>
                  <a:srgbClr val="9A8A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 objetivo como científico de datos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48640" y="2011680"/>
            <a:ext cx="8046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i="1" dirty="0">
                <a:solidFill>
                  <a:srgbClr val="3A2C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es solo encontrar la verdad en los números,</a:t>
            </a:r>
            <a:endParaRPr lang="en-US" sz="2600" dirty="0"/>
          </a:p>
          <a:p>
            <a:pPr indent="0" marL="0">
              <a:buNone/>
            </a:pPr>
            <a:r>
              <a:rPr lang="en-US" sz="2600" i="1" dirty="0">
                <a:solidFill>
                  <a:srgbClr val="3A2C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sino presentarla de una manera tan clara</a:t>
            </a:r>
            <a:endParaRPr lang="en-US" sz="2600" dirty="0"/>
          </a:p>
          <a:p>
            <a:pPr indent="0" marL="0">
              <a:buNone/>
            </a:pPr>
            <a:r>
              <a:rPr lang="en-US" sz="2600" i="1" dirty="0">
                <a:solidFill>
                  <a:srgbClr val="3A2C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 sea imposible de ignorar.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3566160"/>
            <a:ext cx="1828800" cy="36576"/>
          </a:xfrm>
          <a:prstGeom prst="rect">
            <a:avLst/>
          </a:prstGeom>
          <a:solidFill>
            <a:srgbClr val="A8864A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384048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5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buena visualización genera conversación y motiva acción.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6B5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buen modelo, validado correctamente, generaliza al mundo real.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Fundamentos y Estrategias de Visualización de Datos</dc:title>
  <dc:subject>PptxGenJS Presentation</dc:subject>
  <dc:creator>Ciencia de Datos</dc:creator>
  <cp:lastModifiedBy>Ciencia de Datos</cp:lastModifiedBy>
  <cp:revision>1</cp:revision>
  <dcterms:created xsi:type="dcterms:W3CDTF">2026-10-27T18:08:12Z</dcterms:created>
  <dcterms:modified xsi:type="dcterms:W3CDTF">2026-10-27T18:08:12Z</dcterms:modified>
</cp:coreProperties>
</file>