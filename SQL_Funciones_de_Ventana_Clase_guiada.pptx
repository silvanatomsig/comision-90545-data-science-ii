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75" r:id="rId9"/>
    <p:sldId id="262" r:id="rId10"/>
    <p:sldId id="263" r:id="rId11"/>
    <p:sldId id="276" r:id="rId12"/>
    <p:sldId id="264" r:id="rId13"/>
    <p:sldId id="277" r:id="rId14"/>
    <p:sldId id="278" r:id="rId15"/>
    <p:sldId id="265" r:id="rId16"/>
    <p:sldId id="279" r:id="rId17"/>
    <p:sldId id="266" r:id="rId18"/>
    <p:sldId id="267" r:id="rId19"/>
    <p:sldId id="268" r:id="rId20"/>
    <p:sldId id="269" r:id="rId21"/>
    <p:sldId id="280" r:id="rId22"/>
    <p:sldId id="270" r:id="rId23"/>
    <p:sldId id="281" r:id="rId24"/>
    <p:sldId id="271" r:id="rId25"/>
    <p:sldId id="272" r:id="rId26"/>
    <p:sldId id="27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72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clase. Aclarar que el 80% del trabajo de un Data Scientist es preparar datos, y esto es una herramienta clave para 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lo que ya saben: GROUP BY colapsa. La ventana es el tercer modo. Mostrar la línea de pandas: transform devuelve el mismo largo que el DataFrame.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los tres pasos en voz alta y señalar la tabla. Pedir a los alumnos que predigan el valor del pedido 2 antes de mostrarlo: misma ventana, mismo 150.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un alumno que diga su nota y que la compare con el promedio de su curso. Eso es una window function: no deja de ser su fila.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línea en voz alta de izquierda a derecha como una oración.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 función como una oración, de izquierda a derecha. Al final preguntar: ¿qué pasa si borro PARTITION BY? ¿Y si borro ORDER BY?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fila por fila cómo se suma. Remarcar que el acumulado es una ventana que cada vez incluye una fila más.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siempre los mismos datos (900, 700, 700, 200). Preguntar a la clase: ¿qué puesto tiene el 200 en cada caso?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Recordar que LAG mira hacia arriba y LEAD hacia abajo en la tabla ordenada. Pedir que completen la última columna antes de mostrarla.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primero el código que falla y pedir que expliquen por qué. Luego revelar la CTE.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ejemplos están en pandas, pero el concepto es el mismo que en SQL. Esta tabla queda como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que los alumnos completen la tabla antes de mostrarla. Recién después pasar al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Ir señalando cada línea del código y su explicación a la derecha. Insistir en que g solo define los grupos: el cálculo lo hacen transform, cumsum y shift.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mostrar la resolución, dejar que completen la columna del medio. Cerrar con el caso de los empates en Electrónica.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 Ventana en SQL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cada fila sin perder el contexto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Analítico Avanzado · OVER · PARTITION BY · ORDER BY · Ranking · LAG/LEAD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vas a poder...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es una ventana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PARTITION BY y ORDER BY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acumulados y rankings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una fila con la anterior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sirve en la vida real?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916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Uber: tiempo de llegada vs promedio de la zona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Netflix: orden en que ves una saga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crear variables con contexto (features)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Repaso: tres formas de calcular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Fila a fila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se calcula sola. Entra 1 fila, sale 1 fila.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precio × 1.16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Agregación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filas se resumen en una. Se pierde el detalle.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GROUP BY + AVG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Ventana (hoy)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mirando a otras filas y TODAS se conservan.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promedio del cliente en cada pedido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pandas:  df['precio']*1.16   |   groupby().mean()   |   groupby().transform('mean')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GROUP BY colapsa las filas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«Para cada pedido, quiero el monto y el promedio de ese cliente»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 →  se pierde el detalle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3840480" cy="868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OVER(PARTITION BY)  →  se conserva</a:t>
            </a:r>
            <a:endParaRPr lang="en-US" sz="17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011680"/>
          <a:ext cx="3840480" cy="11582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Window Function calcula «sobre» un conjunto de filas (la ventana) y deja el resultado junto a cada fila original. Sin self-joins ni tablas temporales.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Paso a paso: una fila a la vez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1">
                <a:solidFill>
                  <a:srgbClr val="5B6B7B"/>
                </a:solidFill>
                <a:latin typeface="Calibri"/>
              </a:rPr>
              <a:t>Cómo SQL calcula AVG(monto) OVER(PARTITION BY cliente_id) para el pedido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21584" cy="1371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90472"/>
            <a:ext cx="229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1 · Tomo una fila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47088"/>
            <a:ext cx="229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Empiezo por el pedido 1: cliente A, monto 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61664" y="1371600"/>
            <a:ext cx="2621584" cy="1371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6256" y="1490472"/>
            <a:ext cx="229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2 · Abro su ventana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6256" y="1847088"/>
            <a:ext cx="229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PARTITION BY cliente_id: solo miro las filas del cliente A (pedidos 1 y 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6129" y="1371600"/>
            <a:ext cx="2621584" cy="1371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0721" y="1490472"/>
            <a:ext cx="229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3 · Calculo y pego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0721" y="1847088"/>
            <a:ext cx="229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AVG(100, 200) = 150. Ese 150 se escribe al lado del pedido 1.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926080"/>
          <a:ext cx="44805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monto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¿en la ventana?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>
                    <a:solidFill>
                      <a:srgbClr val="FDE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03520" y="297180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Los pedidos 1 y 2 comparten ventana, por eso ambos muestran 150. El pedido 3 abre otra ventana (cliente B) y da 500.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3A89E"/>
                </a:solidFill>
                <a:latin typeface="Calibri"/>
              </a:rPr>
              <a:t>Idea clave: la ventana se arma de nuevo para cada fila, pero todas las filas siguen en el resultado.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analogía: las notas del curso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Cada uno su fila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Ana, Beto y Caro tienen su nota. Cada alumno es una fila.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Mira a su curso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curso: cada alumno solo compara con su curso.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Sigue siendo él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promedio del curso pero no desaparece de la lista.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200400"/>
          <a:ext cx="6400800" cy="11582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promedio_curso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lee una función de ventana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SUM(monto)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calculo?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71600"/>
            <a:ext cx="1920240" cy="1005840"/>
          </a:xfrm>
          <a:prstGeom prst="rect">
            <a:avLst/>
          </a:prstGeom>
          <a:solidFill>
            <a:srgbClr val="13A89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ventana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71600"/>
            <a:ext cx="1920240" cy="1005840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 cliente_id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quiénes miro? (grupos)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371600"/>
            <a:ext cx="1920240" cy="1005840"/>
          </a:xfrm>
          <a:prstGeom prst="rect">
            <a:avLst/>
          </a:prstGeom>
          <a:solidFill>
            <a:srgbClr val="5B6B7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fecha 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orden? (secuencia)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y ORDER BY son opcionales. Sin ninguno, OVER() mira toda la tabla. Cada pieza cambia qué filas ve la ventana.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Lectura guiada, pieza por pieza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566160" cy="1371600"/>
          </a:xfrm>
          <a:prstGeom prst="rect">
            <a:avLst/>
          </a:prstGeom>
          <a:solidFill>
            <a:srgbClr val="12324F"/>
          </a:solidFill>
        </p:spPr>
        <p:txBody>
          <a:bodyPr wrap="square" lIns="109728" tIns="109728" rIns="109728" bIns="10972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E6EEF5"/>
                </a:solidFill>
                <a:latin typeface="Courier New"/>
              </a:rPr>
              <a:t>SUM(monto)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6EEF5"/>
                </a:solidFill>
                <a:latin typeface="Courier New"/>
              </a:rPr>
              <a:t>OVER (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6EEF5"/>
                </a:solidFill>
                <a:latin typeface="Courier New"/>
              </a:rPr>
              <a:t>  PARTITION BY cliente_id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E6EEF5"/>
                </a:solidFill>
                <a:latin typeface="Courier New"/>
              </a:rPr>
              <a:t>  ORDER BY fecha 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7480"/>
            <a:ext cx="3566160" cy="1463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2816352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Leído de corrido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172968"/>
            <a:ext cx="32369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Sumá el monto, para cada cliente por separado, acumulando en orden de fecha.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4389120" cy="685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62272" y="117043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3A89E"/>
                </a:solidFill>
                <a:latin typeface="Courier New"/>
              </a:rPr>
              <a:t>SUM(monto)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¿Qué calculo? Una suma de la columna monto.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74519"/>
            <a:ext cx="4389120" cy="685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94767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3A89E"/>
                </a:solidFill>
                <a:latin typeface="Courier New"/>
              </a:rPr>
              <a:t>OVER (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Abro la ventana: «mirá otras filas para calcularlo».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4389120" cy="685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272491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3A89E"/>
                </a:solidFill>
                <a:latin typeface="Courier New"/>
              </a:rPr>
              <a:t>PARTITION BY cliente_id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¿A quiénes miro? Solo a las filas del mismo cliente.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429000"/>
            <a:ext cx="4389120" cy="685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350215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3A89E"/>
                </a:solidFill>
                <a:latin typeface="Courier New"/>
              </a:rPr>
              <a:t>ORDER BY fecha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¿En qué orden? Por fecha; la ventana llega hasta la fila actual.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3A89E"/>
                </a:solidFill>
                <a:latin typeface="Calibri"/>
              </a:rPr>
              <a:t>Si quitás una pieza: sin PARTITION BY mira toda la tabla; sin ORDER BY mira todo el grupo a la vez.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OVER() y PARTITION BY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OVER()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= toda la tabla. SUM(monto) OVER() repite el total en cada fila.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BY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en grupos lógicos (¿a quiénes miro?). El cálculo se reinicia en cada grupo.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097280"/>
            <a:ext cx="5303520" cy="1645920"/>
          </a:xfrm>
          <a:prstGeom prst="rect">
            <a:avLst/>
          </a:prstGeom>
          <a:solidFill>
            <a:srgbClr val="12324F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pedido_id, cliente_id, monto,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AVG(monto) OVER(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cliente_id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promedio_cliente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pedidos;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3017520"/>
          <a:ext cx="5303520" cy="10972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promedio_cliente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 dentro de OVER: acumulados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572000" cy="1463040"/>
          </a:xfrm>
          <a:prstGeom prst="rect">
            <a:avLst/>
          </a:prstGeom>
          <a:solidFill>
            <a:srgbClr val="12324F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fecha, monto,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SUM(monto) OVER(ORDER BY fecha)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acumulado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ventas;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ORDER BY, la ventana va desde el inicio del grupo hasta la fila actual.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combinar: PARTITION BY (grupos) + ORDER BY (secuencia).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097280"/>
          <a:ext cx="3291840" cy="1158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Miércoles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Acumulado: la ventana crece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4480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día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monto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ventana suma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acumulado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Lunes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Martes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10 + 5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Miércoles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10 + 5 + 8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834640"/>
            <a:ext cx="4480560" cy="914400"/>
          </a:xfrm>
          <a:prstGeom prst="rect">
            <a:avLst/>
          </a:prstGeom>
          <a:solidFill>
            <a:srgbClr val="12324F"/>
          </a:solidFill>
        </p:spPr>
        <p:txBody>
          <a:bodyPr wrap="square" lIns="109728" tIns="109728" rIns="109728" bIns="10972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SELECT fecha, monto,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  SUM(monto) OVER(ORDER BY fecha)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    AS acumulado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FROM ventas;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143000"/>
            <a:ext cx="3474720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76672" y="1261872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Cómo leerlo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672" y="1618488"/>
            <a:ext cx="3145536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1. Cada fila suma desde la primera hasta ella misma.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2. Al bajar una fila, la ventana incorpora un valor más.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3. Con PARTITION BY cliente_id, el acumulado vuelve a empezar en cada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3A89E"/>
                </a:solidFill>
                <a:latin typeface="Calibri"/>
              </a:rPr>
              <a:t>Sin ORDER BY la ventana ve todo el grupo a la vez y devuelve el total, no un acumulado.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Ranking, LAG y LEAD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empates (ventas: 900, 700, 700, 200):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754880" cy="1645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salta posiciones tras un empate; DENSE_RANK no. Para «Top N» compacto, usá DENSE_RANK.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0" y="141732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LAG(col, n)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011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 filas atrás. Ej.: ventas de hoy − ventas de ayer.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301752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7"/>
          <p:cNvSpPr txBox="1"/>
          <p:nvPr/>
        </p:nvSpPr>
        <p:spPr>
          <a:xfrm>
            <a:off x="566928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LEAD(col, n)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 filas adelante. Ej.: qué pasó justo después.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Ranking: quién decide el puesto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2621584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ROW_NUMBER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0B2545"/>
                </a:solidFill>
                <a:latin typeface="Courier New"/>
              </a:rPr>
              <a:t>1 · 2 · 3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9456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Cómo cuenta: </a:t>
            </a:r>
            <a:r>
              <a:rPr sz="1250" b="0" i="0">
                <a:solidFill>
                  <a:srgbClr val="0B2545"/>
                </a:solidFill>
                <a:latin typeface="Calibri"/>
              </a:rPr>
              <a:t>Numera sin repetir nunca. Los empates se desempatan por orden de aparición.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20040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Cuándo usarla: </a:t>
            </a:r>
            <a:r>
              <a:rPr sz="1250" b="0" i="0">
                <a:solidFill>
                  <a:srgbClr val="0B2545"/>
                </a:solidFill>
                <a:latin typeface="Calibri"/>
              </a:rPr>
              <a:t>Un solo ganador por grupo, o quitar duplicados.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1664" y="1143000"/>
            <a:ext cx="2621584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6256" y="126187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6256" y="1645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0B2545"/>
                </a:solidFill>
                <a:latin typeface="Courier New"/>
              </a:rPr>
              <a:t>1 · 2 · 2 ·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6256" y="219456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Cómo cuenta: </a:t>
            </a:r>
            <a:r>
              <a:rPr sz="1250" b="0" i="0">
                <a:solidFill>
                  <a:srgbClr val="0B2545"/>
                </a:solidFill>
                <a:latin typeface="Calibri"/>
              </a:rPr>
              <a:t>Empate = mismo puesto. Después salta lugares (no hay 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6256" y="320040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Cuándo usarla: </a:t>
            </a:r>
            <a:r>
              <a:rPr sz="1250" b="0" i="0">
                <a:solidFill>
                  <a:srgbClr val="0B2545"/>
                </a:solidFill>
                <a:latin typeface="Calibri"/>
              </a:rPr>
              <a:t>Rankings tipo competencia (podio).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66129" y="1143000"/>
            <a:ext cx="2621584" cy="2926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0721" y="126187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DENSE_RANK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0721" y="1645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0B2545"/>
                </a:solidFill>
                <a:latin typeface="Courier New"/>
              </a:rPr>
              <a:t>1 · 2 · 2 ·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0721" y="219456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Cómo cuenta: </a:t>
            </a:r>
            <a:r>
              <a:rPr sz="1250" b="0" i="0">
                <a:solidFill>
                  <a:srgbClr val="0B2545"/>
                </a:solidFill>
                <a:latin typeface="Calibri"/>
              </a:rPr>
              <a:t>Empate = mismo puesto. No salta lugares.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0721" y="320040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Cuándo usarla: </a:t>
            </a:r>
            <a:r>
              <a:rPr sz="1250" b="0" i="0">
                <a:solidFill>
                  <a:srgbClr val="0B2545"/>
                </a:solidFill>
                <a:latin typeface="Calibri"/>
              </a:rPr>
              <a:t>Top N sin huecos.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Datos de ejemplo: ventas 900, 700, 700, 200.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LAG y LEAD: la fila vecina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día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ventas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LAG(ventas)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LEAD(ventas)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ventas − LAG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Lunes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Martes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+20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Miércoles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−30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834640"/>
            <a:ext cx="2621584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2953512"/>
            <a:ext cx="229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LAG · hacia atrás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310128"/>
            <a:ext cx="2292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Trae el valor de la fila anterior. Sirve para comparar con ayer o el mes pasado.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61664" y="2834640"/>
            <a:ext cx="2621584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6256" y="2953512"/>
            <a:ext cx="229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LEAD · hacia adelante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6256" y="3310128"/>
            <a:ext cx="2292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Trae el valor de la fila siguiente. Sirve para ver qué pasó después.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6129" y="2834640"/>
            <a:ext cx="2621584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0721" y="2953512"/>
            <a:ext cx="229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Los bordes dan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0721" y="3310128"/>
            <a:ext cx="2292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La primera fila no tiene anterior y la última no tiene siguiente. En pandas: NaN.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3A89E"/>
                </a:solidFill>
                <a:latin typeface="Calibri"/>
              </a:rPr>
              <a:t>Siempre con ORDER BY dentro de OVER: sin orden, «anterior» no está definido.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WHERE sobre ventana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 ejecuta antes que las ventanas. Para filtrar por ranking usá una subconsulta o CTE.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LAG/LEAD sin ORDER BY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orden dentro de OVER, «el anterior» es aleatorio. Siempre ordená.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RANK vs DENSE_RANK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muchos empates, RANK puede devolver menos productos de los esperados en un Top 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Errores comunes en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Cambria"/>
              </a:rPr>
              <a:t>✗ Así falla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13A89E"/>
                </a:solidFill>
                <a:latin typeface="Cambria"/>
              </a:rPr>
              <a:t>✓ Así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023360" cy="1828800"/>
          </a:xfrm>
          <a:prstGeom prst="rect">
            <a:avLst/>
          </a:prstGeom>
          <a:solidFill>
            <a:srgbClr val="12324F"/>
          </a:solidFill>
        </p:spPr>
        <p:txBody>
          <a:bodyPr wrap="square" lIns="109728" tIns="109728" rIns="109728" bIns="10972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SELECT *, RANK() OVER(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  ORDER BY ventas DESC) rk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FROM ventas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WHERE rk &lt;= 2;  --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63040"/>
            <a:ext cx="4023360" cy="1828800"/>
          </a:xfrm>
          <a:prstGeom prst="rect">
            <a:avLst/>
          </a:prstGeom>
          <a:solidFill>
            <a:srgbClr val="12324F"/>
          </a:solidFill>
        </p:spPr>
        <p:txBody>
          <a:bodyPr wrap="square" lIns="109728" tIns="109728" rIns="109728" bIns="10972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WITH r AS (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  SELECT *, RANK() OVER(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    ORDER BY ventas DESC) rk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  FROM ventas)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SELECT * FROM r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6EEF5"/>
                </a:solidFill>
                <a:latin typeface="Courier New"/>
              </a:rPr>
              <a:t>WHERE rk &lt;= 2;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Por qué: </a:t>
            </a:r>
            <a:r>
              <a:rPr sz="1400" b="0" i="0">
                <a:solidFill>
                  <a:srgbClr val="0B2545"/>
                </a:solidFill>
                <a:latin typeface="Calibri"/>
              </a:rPr>
              <a:t>el WHERE se ejecuta antes de calcular las ventanas, así que rk todavía no existe. La CTE calcula el ranking primero y filtra después.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Los otros dos errores se evitan igual: siempre ORDER BY dentro de OVER en LAG/LEAD, y DENSE_RANK si no querés huecos en el Top 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Puente: SQL y pandas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del 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AVG(x) OVER(PARTITION BY 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groupby(c)[x].transform('mean')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SUM(x) OVER(PARTITION BY c ORDER BY 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groupby(c)[x].cumsum()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anterior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groupby(c)[x].shift(1)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siguiente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groupby(c)[x].shift(-1)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ROW_NUMBER() OVER(...)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groupby(c).cumcount() + 1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RANK() OVER(...)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groupby(c)[x].rank(method='min')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DENSE_RANK() OVER(...)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groupby(c)[x].rank(method='dense')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pandas el ORDER BY se hace antes, con sort_values(). Los ejemplos de hoy usan pandas.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1 · En clase (lo resolvemos juntos)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pedidos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480560" cy="24688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035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37160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pedido mostrar: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Promedio de compra del cliente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Diferencia contra ese promedio (¿gastó más o menos de lo habitual?)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Gasto acumulado del cliente en el tiempo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Monto de su compra anterior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1 · Pensemos antes de programar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preguntas: ¿A quiénes miro? ¿En qué orden? ¿Qué calculo?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4478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consigna pide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Agrupo por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del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transform('mean')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vs promedio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 de columnas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acumulado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cumsum()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anterior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orden, primero ordenamos el DataFrame con sort_values.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1 · Resolución (pandas)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97680" cy="3291840"/>
          </a:xfrm>
          <a:prstGeom prst="rect">
            <a:avLst/>
          </a:prstGeom>
          <a:solidFill>
            <a:srgbClr val="12324F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 = pedidos.sort_values(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['cliente_id', 'fecha'])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pedidos.groupby('cliente_id')['monto']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pedidos['prom'] = g.transform('mean')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pedidos['dif']  = pedidos['monto'] - pedidos['prom']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pedidos['acum'] = g.cumsum()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pedidos['ant']  = g.shift(1)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51560"/>
          <a:ext cx="3749040" cy="2468880"/>
        </p:xfrm>
        <a:graphic>
          <a:graphicData uri="http://schemas.openxmlformats.org/drawingml/2006/table">
            <a:tbl>
              <a:tblPr/>
              <a:tblGrid>
                <a:gridCol w="62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clave: la 1.ª compra de cada cliente tiene ant = NaN (no hay fila anterior). Tip: g.shift(1).fillna(0). Equivale a AVG/SUM/LAG OVER(PARTITION BY).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Ejemplo 1: línea por línea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754880" cy="1783080"/>
          </a:xfrm>
          <a:prstGeom prst="rect">
            <a:avLst/>
          </a:prstGeom>
          <a:solidFill>
            <a:srgbClr val="12324F"/>
          </a:solidFill>
        </p:spPr>
        <p:txBody>
          <a:bodyPr wrap="square" lIns="109728" tIns="109728" rIns="109728" bIns="10972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E6EEF5"/>
                </a:solidFill>
                <a:latin typeface="Courier New"/>
              </a:rPr>
              <a:t>pedidos = pedidos.sort_values(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E6EEF5"/>
                </a:solidFill>
                <a:latin typeface="Courier New"/>
              </a:rPr>
              <a:t>    ['cliente_id', 'fecha'])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E6EEF5"/>
                </a:solidFill>
                <a:latin typeface="Courier New"/>
              </a:rPr>
              <a:t>g = pedidos.groupby('cliente_id')['monto']</a:t>
            </a:r>
          </a:p>
          <a:p>
            <a:pPr>
              <a:spcAft>
                <a:spcPts val="0"/>
              </a:spcAft>
            </a:pPr>
            <a:endParaRPr sz="1100" b="0" i="0">
              <a:solidFill>
                <a:srgbClr val="E6EEF5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E6EEF5"/>
                </a:solidFill>
                <a:latin typeface="Courier New"/>
              </a:rPr>
              <a:t>pedidos['prom'] = g.transform('mean')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E6EEF5"/>
                </a:solidFill>
                <a:latin typeface="Courier New"/>
              </a:rPr>
              <a:t>pedidos['dif']  = pedidos['monto'] - pedidos['prom']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E6EEF5"/>
                </a:solidFill>
                <a:latin typeface="Courier New"/>
              </a:rPr>
              <a:t>pedidos['acum'] = g.cumsum()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E6EEF5"/>
                </a:solidFill>
                <a:latin typeface="Courier New"/>
              </a:rPr>
              <a:t>pedidos['ant']  = g.shift(1)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063240"/>
            <a:ext cx="4754880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3182112"/>
            <a:ext cx="4425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13A89E"/>
                </a:solidFill>
                <a:latin typeface="Cambria"/>
              </a:rPr>
              <a:t>Cómo distinguirlas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538728"/>
            <a:ext cx="44256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Las líneas de prom, acum y ant son funciones de ventana: todas parten de g (un grupo por cliente). La de dif es una resta común entre columnas.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097280"/>
            <a:ext cx="32461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13A89E"/>
                </a:solidFill>
                <a:latin typeface="Calibri"/>
              </a:rPr>
              <a:t>1 · sort_values </a:t>
            </a:r>
            <a:r>
              <a:rPr sz="1150" b="0" i="0">
                <a:solidFill>
                  <a:srgbClr val="0B2545"/>
                </a:solidFill>
                <a:latin typeface="Calibri"/>
              </a:rPr>
              <a:t>ordena por cliente y fecha para respetar el tiempo.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3A89E"/>
                </a:solidFill>
                <a:latin typeface="Calibri"/>
              </a:rPr>
              <a:t>2 · groupby </a:t>
            </a:r>
            <a:r>
              <a:rPr sz="1150" b="0" i="0">
                <a:solidFill>
                  <a:srgbClr val="0B2545"/>
                </a:solidFill>
                <a:latin typeface="Calibri"/>
              </a:rPr>
              <a:t>define la ventana (un grupo por cliente); aún no calcula.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3A89E"/>
                </a:solidFill>
                <a:latin typeface="Calibri"/>
              </a:rPr>
              <a:t>3 · transform('mean') </a:t>
            </a:r>
            <a:r>
              <a:rPr sz="1150" b="0" i="0">
                <a:solidFill>
                  <a:srgbClr val="0B2545"/>
                </a:solidFill>
                <a:latin typeface="Calibri"/>
              </a:rPr>
              <a:t>promedio del cliente repetido en cada una de sus filas.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3A89E"/>
                </a:solidFill>
                <a:latin typeface="Calibri"/>
              </a:rPr>
              <a:t>4 · resta </a:t>
            </a:r>
            <a:r>
              <a:rPr sz="1150" b="0" i="0">
                <a:solidFill>
                  <a:srgbClr val="0B2545"/>
                </a:solidFill>
                <a:latin typeface="Calibri"/>
              </a:rPr>
              <a:t>columna menos columna; positivo = gastó más de lo habitual.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3A89E"/>
                </a:solidFill>
                <a:latin typeface="Calibri"/>
              </a:rPr>
              <a:t>5 · cumsum() </a:t>
            </a:r>
            <a:r>
              <a:rPr sz="1150" b="0" i="0">
                <a:solidFill>
                  <a:srgbClr val="0B2545"/>
                </a:solidFill>
                <a:latin typeface="Calibri"/>
              </a:rPr>
              <a:t>suma corrida que se reinicia al cambiar de cliente.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3A89E"/>
                </a:solidFill>
                <a:latin typeface="Calibri"/>
              </a:rPr>
              <a:t>6 · shift(1) </a:t>
            </a:r>
            <a:r>
              <a:rPr sz="1150" b="0" i="0">
                <a:solidFill>
                  <a:srgbClr val="0B2545"/>
                </a:solidFill>
                <a:latin typeface="Calibri"/>
              </a:rPr>
              <a:t>monto de la fila anterior del cliente; la primera da NaN.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2 · Para los alumnos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ventas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206240" cy="2468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Auriculares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Ranking dentro de cada categoría con cumcount, rank(method='min') y rank(method='dense'). ¿Qué pasa con los empates?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Porcentaje que representa cada producto sobre las ventas de su categoría.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Reto: devolver solo el Top 2 de cada categoría (pista: rank(method='dense') + filtro booleano).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mbria"/>
              </a:rPr>
              <a:t>Ejemplo 2: cómo pensarlo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Qué pide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Cómo lo pienso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anchor="ctr"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a) Ranking por categoría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Grupo: categoria. Orden: ventas de mayor a menor.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cumcount, rank('min'), rank('dense')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b) % sobre su categoría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Grupo: categoria. Sin orden: ventas ÷ total del grupo × 100.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transform('sum')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c) Top 2 por categoría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Uso el ranking denso y me quedo con las filas de puesto ≤ 2.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2545"/>
                          </a:solidFill>
                          <a:latin typeface="Calibri"/>
                        </a:rPr>
                        <a:t>drnk &lt;=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3639312"/>
            <a:ext cx="79004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Cambria"/>
              </a:rPr>
              <a:t>Ojo con los empates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995928"/>
            <a:ext cx="7900416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Electrónica tiene 700 y 700. RANK da 2 y 2 y salta al 4; DENSE_RANK da 2 y 2 y sigue con 3. Por eso el Top 2 devuelve 3 productos por categoría.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2 · Resolución (a y b)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480560" cy="3291840"/>
          </a:xfrm>
          <a:prstGeom prst="rect">
            <a:avLst/>
          </a:prstGeom>
          <a:solidFill>
            <a:srgbClr val="12324F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ventas.groupby('categoria')['ventas']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ventas['rn'] = (ventas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.sort_values('ventas', ascending=False,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kind='stable')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.groupby('categoria').cumcount() + 1)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ventas['rnk'] = g.rank(method='min',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ascending=False).astype(int)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ventas['drnk'] = g.rank(method='dense',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ascending=False).astype(int)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ventas['pct'] = (100 * ventas['ventas']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g.transform('sum')).round(1)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051560"/>
          <a:ext cx="3566160" cy="24688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Auriculares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12064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Empates (700 y 400): RANK salta del 2 al 4; DENSE_RANK no. cumcount desempata por orden de aparición.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2 · Resolución (c) Top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480560" cy="3108960"/>
          </a:xfrm>
          <a:prstGeom prst="rect">
            <a:avLst/>
          </a:prstGeom>
          <a:solidFill>
            <a:srgbClr val="12324F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top2 = ventas[ventas['drnk'] &lt;= 2]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top2 = top2.sort_values(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['categoria', 'drnk'])[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['categoria', 'producto',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'ventas', 'drnk']]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051560"/>
          <a:ext cx="356616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Auriculares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120640" y="31089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 3 filas por categoría: el empate en el puesto 2 obliga a incluir ambos productos. En pandas el filtro es una máscara booleana sobre la columna de ranking (en SQL haría falta un CTE).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calcula sobre otras filas sin colapsarlas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define los grupos; ORDER BY define el orden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ROW_NUMBER, RANK, DENSE_RANK (ojo con los empates)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LAG/LEAD y acumulados dan contexto temporal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pandas: transform, cumsum, shift y rank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3272</Words>
  <Application>Microsoft Office PowerPoint</Application>
  <PresentationFormat>Presentación en pantalla (16:9)</PresentationFormat>
  <Paragraphs>645</Paragraphs>
  <Slides>26</Slides>
  <Notes>26</Notes>
  <HiddenSlides>5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Silvana Beatriz Tomsig</cp:lastModifiedBy>
  <cp:revision>2</cp:revision>
  <dcterms:created xsi:type="dcterms:W3CDTF">2026-09-28T16:58:00Z</dcterms:created>
  <dcterms:modified xsi:type="dcterms:W3CDTF">2026-09-29T22:06:10Z</dcterms:modified>
</cp:coreProperties>
</file>