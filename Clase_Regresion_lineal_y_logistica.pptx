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7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f48fc79-5d95-88fb-c47c-2dff9830dd00}">
          <p14:sldIdLst>
            <p14:sldId id="256"/>
            <p14:sldId id="257"/>
          </p14:sldIdLst>
        </p14:section>
        <p14:section name="Fundamentos" id="{ac8eb8d9-1d5b-981d-dd12-c9b68661400d}">
          <p14:sldIdLst>
            <p14:sldId id="258"/>
            <p14:sldId id="259"/>
            <p14:sldId id="260"/>
            <p14:sldId id="261"/>
          </p14:sldIdLst>
        </p14:section>
        <p14:section name="Regresión lineal" id="{4bdcb8ba-476b-4e82-a1f5-ad2c85a14de2}">
          <p14:sldIdLst>
            <p14:sldId id="262"/>
            <p14:sldId id="263"/>
            <p14:sldId id="264"/>
            <p14:sldId id="265"/>
            <p14:sldId id="266"/>
          </p14:sldIdLst>
        </p14:section>
        <p14:section name="Regresión logística" id="{5a37cedf-2888-754a-94d7-5b10e3ec4694}">
          <p14:sldIdLst>
            <p14:sldId id="267"/>
            <p14:sldId id="268"/>
            <p14:sldId id="269"/>
            <p14:sldId id="270"/>
            <p14:sldId id="271"/>
          </p14:sldIdLst>
        </p14:section>
        <p14:section name="Ensembles" id="{1392d195-5b86-97c9-4bd2-20e18d9f239a}">
          <p14:sldIdLst>
            <p14:sldId id="272"/>
            <p14:sldId id="273"/>
            <p14:sldId id="274"/>
            <p14:sldId id="275"/>
            <p14:sldId id="276"/>
          </p14:sldIdLst>
        </p14:section>
        <p14:section name="Evaluación" id="{4eae317b-414b-848e-6a93-98f2e7ae6f01}">
          <p14:sldIdLst>
            <p14:sldId id="277"/>
            <p14:sldId id="278"/>
            <p14:sldId id="279"/>
            <p14:sldId id="280"/>
          </p14:sldIdLst>
        </p14:section>
        <p14:section name="Validación y ajuste" id="{bb7f3cc1-12f3-649a-d920-7567e5a16110}">
          <p14:sldIdLst>
            <p14:sldId id="281"/>
            <p14:sldId id="282"/>
            <p14:sldId id="283"/>
            <p14:sldId id="284"/>
          </p14:sldIdLst>
        </p14:section>
        <p14:section name="Práctica" id="{21db6258-6aba-7159-2f6c-1ff1222b5dfe}">
          <p14:sldIdLst>
            <p14:sldId id="285"/>
            <p14:sldId id="286"/>
          </p14:sldIdLst>
        </p14:section>
        <p14:section name="Cierre" id="{73e4a43f-339b-3f95-38d9-29636cc08a7d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Observaciones</c:v>
                </c:pt>
              </c:strCache>
            </c:strRef>
          </c:tx>
          <c:spPr>
            <a:solidFill>
              <a:srgbClr val="1F8A8A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xVal>
            <c:numRef>
              <c:f>Sheet1!$A$2:$A$45</c:f>
              <c:numCache>
                <c:formatCode>General</c:formatCode>
                <c:ptCount val="44"/>
                <c:pt idx="0">
                  <c:v>5</c:v>
                </c:pt>
                <c:pt idx="1">
                  <c:v>5.7</c:v>
                </c:pt>
                <c:pt idx="2">
                  <c:v>6.4</c:v>
                </c:pt>
                <c:pt idx="3">
                  <c:v>7.1</c:v>
                </c:pt>
                <c:pt idx="4">
                  <c:v>7.8</c:v>
                </c:pt>
                <c:pt idx="5">
                  <c:v>8.5</c:v>
                </c:pt>
                <c:pt idx="6">
                  <c:v>9.2</c:v>
                </c:pt>
                <c:pt idx="7">
                  <c:v>9.9</c:v>
                </c:pt>
                <c:pt idx="8">
                  <c:v>10.6</c:v>
                </c:pt>
                <c:pt idx="9">
                  <c:v>11.3</c:v>
                </c:pt>
                <c:pt idx="10">
                  <c:v>12</c:v>
                </c:pt>
                <c:pt idx="11">
                  <c:v>12.7</c:v>
                </c:pt>
                <c:pt idx="12">
                  <c:v>13.4</c:v>
                </c:pt>
                <c:pt idx="13">
                  <c:v>14.1</c:v>
                </c:pt>
                <c:pt idx="14">
                  <c:v>14.8</c:v>
                </c:pt>
                <c:pt idx="15">
                  <c:v>15.5</c:v>
                </c:pt>
                <c:pt idx="16">
                  <c:v>16.2</c:v>
                </c:pt>
                <c:pt idx="17">
                  <c:v>16.9</c:v>
                </c:pt>
                <c:pt idx="18">
                  <c:v>17.6</c:v>
                </c:pt>
                <c:pt idx="19">
                  <c:v>18.3</c:v>
                </c:pt>
                <c:pt idx="20">
                  <c:v>19</c:v>
                </c:pt>
                <c:pt idx="21">
                  <c:v>19.7</c:v>
                </c:pt>
                <c:pt idx="22">
                  <c:v>20.4</c:v>
                </c:pt>
                <c:pt idx="23">
                  <c:v>21.1</c:v>
                </c:pt>
                <c:pt idx="24">
                  <c:v>21.8</c:v>
                </c:pt>
                <c:pt idx="25">
                  <c:v>22.5</c:v>
                </c:pt>
                <c:pt idx="26">
                  <c:v>23.2</c:v>
                </c:pt>
                <c:pt idx="27">
                  <c:v>23.9</c:v>
                </c:pt>
                <c:pt idx="28">
                  <c:v>24.6</c:v>
                </c:pt>
                <c:pt idx="29">
                  <c:v>25.3</c:v>
                </c:pt>
                <c:pt idx="30">
                  <c:v>26</c:v>
                </c:pt>
                <c:pt idx="31">
                  <c:v>26.7</c:v>
                </c:pt>
                <c:pt idx="32">
                  <c:v>27.4</c:v>
                </c:pt>
                <c:pt idx="33">
                  <c:v>28.1</c:v>
                </c:pt>
                <c:pt idx="34">
                  <c:v>28.8</c:v>
                </c:pt>
                <c:pt idx="35">
                  <c:v>29.5</c:v>
                </c:pt>
                <c:pt idx="36">
                  <c:v>30.2</c:v>
                </c:pt>
                <c:pt idx="37">
                  <c:v>30.9</c:v>
                </c:pt>
                <c:pt idx="38">
                  <c:v>31.6</c:v>
                </c:pt>
                <c:pt idx="39">
                  <c:v>32.3</c:v>
                </c:pt>
                <c:pt idx="40">
                  <c:v>33</c:v>
                </c:pt>
                <c:pt idx="41">
                  <c:v>33.7</c:v>
                </c:pt>
                <c:pt idx="42">
                  <c:v>34.4</c:v>
                </c:pt>
                <c:pt idx="43">
                  <c:v>35.1</c:v>
                </c:pt>
              </c:numCache>
            </c:numRef>
          </c:xVal>
          <c:yVal>
            <c:numRef>
              <c:f>Sheet1!$B$2:$B$45</c:f>
              <c:numCache>
                <c:formatCode>General</c:formatCode>
                <c:ptCount val="44"/>
                <c:pt idx="0">
                  <c:v>17</c:v>
                </c:pt>
                <c:pt idx="1">
                  <c:v>52.2</c:v>
                </c:pt>
                <c:pt idx="2">
                  <c:v>31.6</c:v>
                </c:pt>
                <c:pt idx="3">
                  <c:v>30.9</c:v>
                </c:pt>
                <c:pt idx="4">
                  <c:v>51.7</c:v>
                </c:pt>
                <c:pt idx="5">
                  <c:v>46.7</c:v>
                </c:pt>
                <c:pt idx="6">
                  <c:v>41.5</c:v>
                </c:pt>
                <c:pt idx="7">
                  <c:v>58.8</c:v>
                </c:pt>
                <c:pt idx="8">
                  <c:v>61</c:v>
                </c:pt>
                <c:pt idx="9">
                  <c:v>55.4</c:v>
                </c:pt>
                <c:pt idx="10">
                  <c:v>62.6</c:v>
                </c:pt>
                <c:pt idx="11">
                  <c:v>63</c:v>
                </c:pt>
                <c:pt idx="12">
                  <c:v>71.6</c:v>
                </c:pt>
                <c:pt idx="13">
                  <c:v>53</c:v>
                </c:pt>
                <c:pt idx="14">
                  <c:v>59.9</c:v>
                </c:pt>
                <c:pt idx="15">
                  <c:v>74</c:v>
                </c:pt>
                <c:pt idx="16">
                  <c:v>75.7</c:v>
                </c:pt>
                <c:pt idx="17">
                  <c:v>54.6</c:v>
                </c:pt>
                <c:pt idx="18">
                  <c:v>79.4</c:v>
                </c:pt>
                <c:pt idx="19">
                  <c:v>73.7</c:v>
                </c:pt>
                <c:pt idx="20">
                  <c:v>92.2</c:v>
                </c:pt>
                <c:pt idx="21">
                  <c:v>90.2</c:v>
                </c:pt>
                <c:pt idx="22">
                  <c:v>67.6</c:v>
                </c:pt>
                <c:pt idx="23">
                  <c:v>83.8</c:v>
                </c:pt>
                <c:pt idx="24">
                  <c:v>100.6</c:v>
                </c:pt>
                <c:pt idx="25">
                  <c:v>94.3</c:v>
                </c:pt>
                <c:pt idx="26">
                  <c:v>94.8</c:v>
                </c:pt>
                <c:pt idx="27">
                  <c:v>94.5</c:v>
                </c:pt>
                <c:pt idx="28">
                  <c:v>108.6</c:v>
                </c:pt>
                <c:pt idx="29">
                  <c:v>110.6</c:v>
                </c:pt>
                <c:pt idx="30">
                  <c:v>93.4</c:v>
                </c:pt>
                <c:pt idx="31">
                  <c:v>94.2</c:v>
                </c:pt>
                <c:pt idx="32">
                  <c:v>114.3</c:v>
                </c:pt>
                <c:pt idx="33">
                  <c:v>98.3</c:v>
                </c:pt>
                <c:pt idx="34">
                  <c:v>93.9</c:v>
                </c:pt>
                <c:pt idx="35">
                  <c:v>101.2</c:v>
                </c:pt>
                <c:pt idx="36">
                  <c:v>108</c:v>
                </c:pt>
                <c:pt idx="37">
                  <c:v>105.3</c:v>
                </c:pt>
                <c:pt idx="38">
                  <c:v>130.5</c:v>
                </c:pt>
                <c:pt idx="39">
                  <c:v>119</c:v>
                </c:pt>
                <c:pt idx="40">
                  <c:v>127.3</c:v>
                </c:pt>
                <c:pt idx="41">
                  <c:v>134.7</c:v>
                </c:pt>
                <c:pt idx="42">
                  <c:v>107.3</c:v>
                </c:pt>
                <c:pt idx="43">
                  <c:v>117.1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Recta ajustada</c:v>
                </c:pt>
              </c:strCache>
            </c:strRef>
          </c:tx>
          <c:spPr>
            <a:solidFill>
              <a:srgbClr val="F2A541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xVal>
            <c:numRef>
              <c:f>Sheet1!$A$2:$A$45</c:f>
              <c:numCache>
                <c:formatCode>General</c:formatCode>
                <c:ptCount val="44"/>
                <c:pt idx="0">
                  <c:v>5</c:v>
                </c:pt>
                <c:pt idx="1">
                  <c:v>5.7</c:v>
                </c:pt>
                <c:pt idx="2">
                  <c:v>6.4</c:v>
                </c:pt>
                <c:pt idx="3">
                  <c:v>7.1</c:v>
                </c:pt>
                <c:pt idx="4">
                  <c:v>7.8</c:v>
                </c:pt>
                <c:pt idx="5">
                  <c:v>8.5</c:v>
                </c:pt>
                <c:pt idx="6">
                  <c:v>9.2</c:v>
                </c:pt>
                <c:pt idx="7">
                  <c:v>9.9</c:v>
                </c:pt>
                <c:pt idx="8">
                  <c:v>10.6</c:v>
                </c:pt>
                <c:pt idx="9">
                  <c:v>11.3</c:v>
                </c:pt>
                <c:pt idx="10">
                  <c:v>12</c:v>
                </c:pt>
                <c:pt idx="11">
                  <c:v>12.7</c:v>
                </c:pt>
                <c:pt idx="12">
                  <c:v>13.4</c:v>
                </c:pt>
                <c:pt idx="13">
                  <c:v>14.1</c:v>
                </c:pt>
                <c:pt idx="14">
                  <c:v>14.8</c:v>
                </c:pt>
                <c:pt idx="15">
                  <c:v>15.5</c:v>
                </c:pt>
                <c:pt idx="16">
                  <c:v>16.2</c:v>
                </c:pt>
                <c:pt idx="17">
                  <c:v>16.9</c:v>
                </c:pt>
                <c:pt idx="18">
                  <c:v>17.6</c:v>
                </c:pt>
                <c:pt idx="19">
                  <c:v>18.3</c:v>
                </c:pt>
                <c:pt idx="20">
                  <c:v>19</c:v>
                </c:pt>
                <c:pt idx="21">
                  <c:v>19.7</c:v>
                </c:pt>
                <c:pt idx="22">
                  <c:v>20.4</c:v>
                </c:pt>
                <c:pt idx="23">
                  <c:v>21.1</c:v>
                </c:pt>
                <c:pt idx="24">
                  <c:v>21.8</c:v>
                </c:pt>
                <c:pt idx="25">
                  <c:v>22.5</c:v>
                </c:pt>
                <c:pt idx="26">
                  <c:v>23.2</c:v>
                </c:pt>
                <c:pt idx="27">
                  <c:v>23.9</c:v>
                </c:pt>
                <c:pt idx="28">
                  <c:v>24.6</c:v>
                </c:pt>
                <c:pt idx="29">
                  <c:v>25.3</c:v>
                </c:pt>
                <c:pt idx="30">
                  <c:v>26</c:v>
                </c:pt>
                <c:pt idx="31">
                  <c:v>26.7</c:v>
                </c:pt>
                <c:pt idx="32">
                  <c:v>27.4</c:v>
                </c:pt>
                <c:pt idx="33">
                  <c:v>28.1</c:v>
                </c:pt>
                <c:pt idx="34">
                  <c:v>28.8</c:v>
                </c:pt>
                <c:pt idx="35">
                  <c:v>29.5</c:v>
                </c:pt>
                <c:pt idx="36">
                  <c:v>30.2</c:v>
                </c:pt>
                <c:pt idx="37">
                  <c:v>30.9</c:v>
                </c:pt>
                <c:pt idx="38">
                  <c:v>31.6</c:v>
                </c:pt>
                <c:pt idx="39">
                  <c:v>32.3</c:v>
                </c:pt>
                <c:pt idx="40">
                  <c:v>33</c:v>
                </c:pt>
                <c:pt idx="41">
                  <c:v>33.7</c:v>
                </c:pt>
                <c:pt idx="42">
                  <c:v>34.4</c:v>
                </c:pt>
                <c:pt idx="43">
                  <c:v>35.1</c:v>
                </c:pt>
              </c:numCache>
            </c:numRef>
          </c:xVal>
          <c:yVal>
            <c:numRef>
              <c:f>Sheet1!$C$2:$C$45</c:f>
              <c:numCache>
                <c:formatCode>General</c:formatCode>
                <c:ptCount val="44"/>
                <c:pt idx="0">
                  <c:v>35</c:v>
                </c:pt>
                <c:pt idx="1">
                  <c:v>37.1</c:v>
                </c:pt>
                <c:pt idx="2">
                  <c:v>39.2</c:v>
                </c:pt>
                <c:pt idx="3">
                  <c:v>41.3</c:v>
                </c:pt>
                <c:pt idx="4">
                  <c:v>43.4</c:v>
                </c:pt>
                <c:pt idx="5">
                  <c:v>45.5</c:v>
                </c:pt>
                <c:pt idx="6">
                  <c:v>47.6</c:v>
                </c:pt>
                <c:pt idx="7">
                  <c:v>49.7</c:v>
                </c:pt>
                <c:pt idx="8">
                  <c:v>51.8</c:v>
                </c:pt>
                <c:pt idx="9">
                  <c:v>53.9</c:v>
                </c:pt>
                <c:pt idx="10">
                  <c:v>56</c:v>
                </c:pt>
                <c:pt idx="11">
                  <c:v>58.1</c:v>
                </c:pt>
                <c:pt idx="12">
                  <c:v>60.2</c:v>
                </c:pt>
                <c:pt idx="13">
                  <c:v>62.3</c:v>
                </c:pt>
                <c:pt idx="14">
                  <c:v>64.4</c:v>
                </c:pt>
                <c:pt idx="15">
                  <c:v>66.5</c:v>
                </c:pt>
                <c:pt idx="16">
                  <c:v>68.6</c:v>
                </c:pt>
                <c:pt idx="17">
                  <c:v>70.7</c:v>
                </c:pt>
                <c:pt idx="18">
                  <c:v>72.8</c:v>
                </c:pt>
                <c:pt idx="19">
                  <c:v>74.9</c:v>
                </c:pt>
                <c:pt idx="20">
                  <c:v>77</c:v>
                </c:pt>
                <c:pt idx="21">
                  <c:v>79.1</c:v>
                </c:pt>
                <c:pt idx="22">
                  <c:v>81.2</c:v>
                </c:pt>
                <c:pt idx="23">
                  <c:v>83.3</c:v>
                </c:pt>
                <c:pt idx="24">
                  <c:v>85.4</c:v>
                </c:pt>
                <c:pt idx="25">
                  <c:v>87.5</c:v>
                </c:pt>
                <c:pt idx="26">
                  <c:v>89.6</c:v>
                </c:pt>
                <c:pt idx="27">
                  <c:v>91.7</c:v>
                </c:pt>
                <c:pt idx="28">
                  <c:v>93.8</c:v>
                </c:pt>
                <c:pt idx="29">
                  <c:v>95.9</c:v>
                </c:pt>
                <c:pt idx="30">
                  <c:v>98</c:v>
                </c:pt>
                <c:pt idx="31">
                  <c:v>100.1</c:v>
                </c:pt>
                <c:pt idx="32">
                  <c:v>102.2</c:v>
                </c:pt>
                <c:pt idx="33">
                  <c:v>104.3</c:v>
                </c:pt>
                <c:pt idx="34">
                  <c:v>106.4</c:v>
                </c:pt>
                <c:pt idx="35">
                  <c:v>108.5</c:v>
                </c:pt>
                <c:pt idx="36">
                  <c:v>110.6</c:v>
                </c:pt>
                <c:pt idx="37">
                  <c:v>112.7</c:v>
                </c:pt>
                <c:pt idx="38">
                  <c:v>114.8</c:v>
                </c:pt>
                <c:pt idx="39">
                  <c:v>116.9</c:v>
                </c:pt>
                <c:pt idx="40">
                  <c:v>119</c:v>
                </c:pt>
                <c:pt idx="41">
                  <c:v>121.1</c:v>
                </c:pt>
                <c:pt idx="42">
                  <c:v>123.2</c:v>
                </c:pt>
                <c:pt idx="43">
                  <c:v>125.3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Temperatura (°C)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Alquileres por hora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1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313A"/>
                </a:solidFill>
                <a:latin typeface="+mn-lt"/>
              </a:rPr>
              <a:t>La pérdida baja en cada iteración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62</c:v>
                </c:pt>
                <c:pt idx="2">
                  <c:v>40</c:v>
                </c:pt>
                <c:pt idx="3">
                  <c:v>26</c:v>
                </c:pt>
                <c:pt idx="4">
                  <c:v>18</c:v>
                </c:pt>
                <c:pt idx="5">
                  <c:v>13</c:v>
                </c:pt>
                <c:pt idx="6">
                  <c:v>10</c:v>
                </c:pt>
                <c:pt idx="7">
                  <c:v>8.3</c:v>
                </c:pt>
                <c:pt idx="8">
                  <c:v>7.2</c:v>
                </c:pt>
                <c:pt idx="9">
                  <c:v>6.5</c:v>
                </c:pt>
                <c:pt idx="10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Iteración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MSE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Sigmoide</c:v>
                </c:pt>
              </c:strCache>
            </c:strRef>
          </c:tx>
          <c:spPr>
            <a:solidFill>
              <a:srgbClr val="1F8A8A"/>
            </a:solidFill>
            <a:ln w="38100" cap="flat">
              <a:solidFill>
                <a:srgbClr val="1F8A8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xVal>
            <c:numRef>
              <c:f>Sheet1!$A$2:$A$50</c:f>
              <c:numCache>
                <c:formatCode>General</c:formatCode>
                <c:ptCount val="49"/>
                <c:pt idx="0">
                  <c:v>-6</c:v>
                </c:pt>
                <c:pt idx="1">
                  <c:v>-5.75</c:v>
                </c:pt>
                <c:pt idx="2">
                  <c:v>-5.5</c:v>
                </c:pt>
                <c:pt idx="3">
                  <c:v>-5.25</c:v>
                </c:pt>
                <c:pt idx="4">
                  <c:v>-5</c:v>
                </c:pt>
                <c:pt idx="5">
                  <c:v>-4.75</c:v>
                </c:pt>
                <c:pt idx="6">
                  <c:v>-4.5</c:v>
                </c:pt>
                <c:pt idx="7">
                  <c:v>-4.25</c:v>
                </c:pt>
                <c:pt idx="8">
                  <c:v>-4</c:v>
                </c:pt>
                <c:pt idx="9">
                  <c:v>-3.75</c:v>
                </c:pt>
                <c:pt idx="10">
                  <c:v>-3.5</c:v>
                </c:pt>
                <c:pt idx="11">
                  <c:v>-3.25</c:v>
                </c:pt>
                <c:pt idx="12">
                  <c:v>-3</c:v>
                </c:pt>
                <c:pt idx="13">
                  <c:v>-2.75</c:v>
                </c:pt>
                <c:pt idx="14">
                  <c:v>-2.5</c:v>
                </c:pt>
                <c:pt idx="15">
                  <c:v>-2.25</c:v>
                </c:pt>
                <c:pt idx="16">
                  <c:v>-2</c:v>
                </c:pt>
                <c:pt idx="17">
                  <c:v>-1.75</c:v>
                </c:pt>
                <c:pt idx="18">
                  <c:v>-1.5</c:v>
                </c:pt>
                <c:pt idx="19">
                  <c:v>-1.25</c:v>
                </c:pt>
                <c:pt idx="20">
                  <c:v>-1</c:v>
                </c:pt>
                <c:pt idx="21">
                  <c:v>-0.75</c:v>
                </c:pt>
                <c:pt idx="22">
                  <c:v>-0.5</c:v>
                </c:pt>
                <c:pt idx="23">
                  <c:v>-0.25</c:v>
                </c:pt>
                <c:pt idx="24">
                  <c:v>0</c:v>
                </c:pt>
                <c:pt idx="25">
                  <c:v>0.25</c:v>
                </c:pt>
                <c:pt idx="26">
                  <c:v>0.5</c:v>
                </c:pt>
                <c:pt idx="27">
                  <c:v>0.75</c:v>
                </c:pt>
                <c:pt idx="28">
                  <c:v>1</c:v>
                </c:pt>
                <c:pt idx="29">
                  <c:v>1.25</c:v>
                </c:pt>
                <c:pt idx="30">
                  <c:v>1.5</c:v>
                </c:pt>
                <c:pt idx="31">
                  <c:v>1.75</c:v>
                </c:pt>
                <c:pt idx="32">
                  <c:v>2</c:v>
                </c:pt>
                <c:pt idx="33">
                  <c:v>2.25</c:v>
                </c:pt>
                <c:pt idx="34">
                  <c:v>2.5</c:v>
                </c:pt>
                <c:pt idx="35">
                  <c:v>2.75</c:v>
                </c:pt>
                <c:pt idx="36">
                  <c:v>3</c:v>
                </c:pt>
                <c:pt idx="37">
                  <c:v>3.25</c:v>
                </c:pt>
                <c:pt idx="38">
                  <c:v>3.5</c:v>
                </c:pt>
                <c:pt idx="39">
                  <c:v>3.75</c:v>
                </c:pt>
                <c:pt idx="40">
                  <c:v>4</c:v>
                </c:pt>
                <c:pt idx="41">
                  <c:v>4.25</c:v>
                </c:pt>
                <c:pt idx="42">
                  <c:v>4.5</c:v>
                </c:pt>
                <c:pt idx="43">
                  <c:v>4.75</c:v>
                </c:pt>
                <c:pt idx="44">
                  <c:v>5</c:v>
                </c:pt>
                <c:pt idx="45">
                  <c:v>5.25</c:v>
                </c:pt>
                <c:pt idx="46">
                  <c:v>5.5</c:v>
                </c:pt>
                <c:pt idx="47">
                  <c:v>5.75</c:v>
                </c:pt>
                <c:pt idx="48">
                  <c:v>6</c:v>
                </c:pt>
              </c:numCache>
            </c:numRef>
          </c:xVal>
          <c:yVal>
            <c:numRef>
              <c:f>Sheet1!$B$2:$B$50</c:f>
              <c:numCache>
                <c:formatCode>General</c:formatCode>
                <c:ptCount val="49"/>
                <c:pt idx="0">
                  <c:v>0.0025</c:v>
                </c:pt>
                <c:pt idx="1">
                  <c:v>0.0032</c:v>
                </c:pt>
                <c:pt idx="2">
                  <c:v>0.0041</c:v>
                </c:pt>
                <c:pt idx="3">
                  <c:v>0.0052</c:v>
                </c:pt>
                <c:pt idx="4">
                  <c:v>0.0067</c:v>
                </c:pt>
                <c:pt idx="5">
                  <c:v>0.0086</c:v>
                </c:pt>
                <c:pt idx="6">
                  <c:v>0.011</c:v>
                </c:pt>
                <c:pt idx="7">
                  <c:v>0.0141</c:v>
                </c:pt>
                <c:pt idx="8">
                  <c:v>0.018</c:v>
                </c:pt>
                <c:pt idx="9">
                  <c:v>0.023</c:v>
                </c:pt>
                <c:pt idx="10">
                  <c:v>0.0293</c:v>
                </c:pt>
                <c:pt idx="11">
                  <c:v>0.0373</c:v>
                </c:pt>
                <c:pt idx="12">
                  <c:v>0.0474</c:v>
                </c:pt>
                <c:pt idx="13">
                  <c:v>0.0601</c:v>
                </c:pt>
                <c:pt idx="14">
                  <c:v>0.0759</c:v>
                </c:pt>
                <c:pt idx="15">
                  <c:v>0.0953</c:v>
                </c:pt>
                <c:pt idx="16">
                  <c:v>0.1192</c:v>
                </c:pt>
                <c:pt idx="17">
                  <c:v>0.148</c:v>
                </c:pt>
                <c:pt idx="18">
                  <c:v>0.1824</c:v>
                </c:pt>
                <c:pt idx="19">
                  <c:v>0.2227</c:v>
                </c:pt>
                <c:pt idx="20">
                  <c:v>0.2689</c:v>
                </c:pt>
                <c:pt idx="21">
                  <c:v>0.3208</c:v>
                </c:pt>
                <c:pt idx="22">
                  <c:v>0.3775</c:v>
                </c:pt>
                <c:pt idx="23">
                  <c:v>0.4378</c:v>
                </c:pt>
                <c:pt idx="24">
                  <c:v>0.5</c:v>
                </c:pt>
                <c:pt idx="25">
                  <c:v>0.5622</c:v>
                </c:pt>
                <c:pt idx="26">
                  <c:v>0.6225</c:v>
                </c:pt>
                <c:pt idx="27">
                  <c:v>0.6792</c:v>
                </c:pt>
                <c:pt idx="28">
                  <c:v>0.7311</c:v>
                </c:pt>
                <c:pt idx="29">
                  <c:v>0.7773</c:v>
                </c:pt>
                <c:pt idx="30">
                  <c:v>0.8176</c:v>
                </c:pt>
                <c:pt idx="31">
                  <c:v>0.852</c:v>
                </c:pt>
                <c:pt idx="32">
                  <c:v>0.8808</c:v>
                </c:pt>
                <c:pt idx="33">
                  <c:v>0.9047</c:v>
                </c:pt>
                <c:pt idx="34">
                  <c:v>0.9241</c:v>
                </c:pt>
                <c:pt idx="35">
                  <c:v>0.9399</c:v>
                </c:pt>
                <c:pt idx="36">
                  <c:v>0.9526</c:v>
                </c:pt>
                <c:pt idx="37">
                  <c:v>0.9627</c:v>
                </c:pt>
                <c:pt idx="38">
                  <c:v>0.9707</c:v>
                </c:pt>
                <c:pt idx="39">
                  <c:v>0.977</c:v>
                </c:pt>
                <c:pt idx="40">
                  <c:v>0.982</c:v>
                </c:pt>
                <c:pt idx="41">
                  <c:v>0.9859</c:v>
                </c:pt>
                <c:pt idx="42">
                  <c:v>0.989</c:v>
                </c:pt>
                <c:pt idx="43">
                  <c:v>0.9914</c:v>
                </c:pt>
                <c:pt idx="44">
                  <c:v>0.9933</c:v>
                </c:pt>
                <c:pt idx="45">
                  <c:v>0.9948</c:v>
                </c:pt>
                <c:pt idx="46">
                  <c:v>0.9959</c:v>
                </c:pt>
                <c:pt idx="47">
                  <c:v>0.9968</c:v>
                </c:pt>
                <c:pt idx="48">
                  <c:v>0.9975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Umbral 0.5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xVal>
            <c:numRef>
              <c:f>Sheet1!$A$2:$A$50</c:f>
              <c:numCache>
                <c:formatCode>General</c:formatCode>
                <c:ptCount val="49"/>
                <c:pt idx="0">
                  <c:v>-6</c:v>
                </c:pt>
                <c:pt idx="1">
                  <c:v>-5.75</c:v>
                </c:pt>
                <c:pt idx="2">
                  <c:v>-5.5</c:v>
                </c:pt>
                <c:pt idx="3">
                  <c:v>-5.25</c:v>
                </c:pt>
                <c:pt idx="4">
                  <c:v>-5</c:v>
                </c:pt>
                <c:pt idx="5">
                  <c:v>-4.75</c:v>
                </c:pt>
                <c:pt idx="6">
                  <c:v>-4.5</c:v>
                </c:pt>
                <c:pt idx="7">
                  <c:v>-4.25</c:v>
                </c:pt>
                <c:pt idx="8">
                  <c:v>-4</c:v>
                </c:pt>
                <c:pt idx="9">
                  <c:v>-3.75</c:v>
                </c:pt>
                <c:pt idx="10">
                  <c:v>-3.5</c:v>
                </c:pt>
                <c:pt idx="11">
                  <c:v>-3.25</c:v>
                </c:pt>
                <c:pt idx="12">
                  <c:v>-3</c:v>
                </c:pt>
                <c:pt idx="13">
                  <c:v>-2.75</c:v>
                </c:pt>
                <c:pt idx="14">
                  <c:v>-2.5</c:v>
                </c:pt>
                <c:pt idx="15">
                  <c:v>-2.25</c:v>
                </c:pt>
                <c:pt idx="16">
                  <c:v>-2</c:v>
                </c:pt>
                <c:pt idx="17">
                  <c:v>-1.75</c:v>
                </c:pt>
                <c:pt idx="18">
                  <c:v>-1.5</c:v>
                </c:pt>
                <c:pt idx="19">
                  <c:v>-1.25</c:v>
                </c:pt>
                <c:pt idx="20">
                  <c:v>-1</c:v>
                </c:pt>
                <c:pt idx="21">
                  <c:v>-0.75</c:v>
                </c:pt>
                <c:pt idx="22">
                  <c:v>-0.5</c:v>
                </c:pt>
                <c:pt idx="23">
                  <c:v>-0.25</c:v>
                </c:pt>
                <c:pt idx="24">
                  <c:v>0</c:v>
                </c:pt>
                <c:pt idx="25">
                  <c:v>0.25</c:v>
                </c:pt>
                <c:pt idx="26">
                  <c:v>0.5</c:v>
                </c:pt>
                <c:pt idx="27">
                  <c:v>0.75</c:v>
                </c:pt>
                <c:pt idx="28">
                  <c:v>1</c:v>
                </c:pt>
                <c:pt idx="29">
                  <c:v>1.25</c:v>
                </c:pt>
                <c:pt idx="30">
                  <c:v>1.5</c:v>
                </c:pt>
                <c:pt idx="31">
                  <c:v>1.75</c:v>
                </c:pt>
                <c:pt idx="32">
                  <c:v>2</c:v>
                </c:pt>
                <c:pt idx="33">
                  <c:v>2.25</c:v>
                </c:pt>
                <c:pt idx="34">
                  <c:v>2.5</c:v>
                </c:pt>
                <c:pt idx="35">
                  <c:v>2.75</c:v>
                </c:pt>
                <c:pt idx="36">
                  <c:v>3</c:v>
                </c:pt>
                <c:pt idx="37">
                  <c:v>3.25</c:v>
                </c:pt>
                <c:pt idx="38">
                  <c:v>3.5</c:v>
                </c:pt>
                <c:pt idx="39">
                  <c:v>3.75</c:v>
                </c:pt>
                <c:pt idx="40">
                  <c:v>4</c:v>
                </c:pt>
                <c:pt idx="41">
                  <c:v>4.25</c:v>
                </c:pt>
                <c:pt idx="42">
                  <c:v>4.5</c:v>
                </c:pt>
                <c:pt idx="43">
                  <c:v>4.75</c:v>
                </c:pt>
                <c:pt idx="44">
                  <c:v>5</c:v>
                </c:pt>
                <c:pt idx="45">
                  <c:v>5.25</c:v>
                </c:pt>
                <c:pt idx="46">
                  <c:v>5.5</c:v>
                </c:pt>
                <c:pt idx="47">
                  <c:v>5.75</c:v>
                </c:pt>
                <c:pt idx="48">
                  <c:v>6</c:v>
                </c:pt>
              </c:numCache>
            </c:numRef>
          </c:xVal>
          <c:yVal>
            <c:numRef>
              <c:f>Sheet1!$C$2:$C$50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-6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z = β₀ + β₁x₁ + …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Probabilidad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 la clase real es 1:  −ln(p)</c:v>
                </c:pt>
              </c:strCache>
            </c:strRef>
          </c:tx>
          <c:spPr>
            <a:solidFill>
              <a:srgbClr val="1F8A8A"/>
            </a:solidFill>
            <a:ln w="38100" cap="flat">
              <a:solidFill>
                <a:srgbClr val="1F8A8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0.02</c:v>
                </c:pt>
                <c:pt idx="1">
                  <c:v>0.045</c:v>
                </c:pt>
                <c:pt idx="2">
                  <c:v>0.07</c:v>
                </c:pt>
                <c:pt idx="3">
                  <c:v>0.095</c:v>
                </c:pt>
                <c:pt idx="4">
                  <c:v>0.12</c:v>
                </c:pt>
                <c:pt idx="5">
                  <c:v>0.145</c:v>
                </c:pt>
                <c:pt idx="6">
                  <c:v>0.17</c:v>
                </c:pt>
                <c:pt idx="7">
                  <c:v>0.195</c:v>
                </c:pt>
                <c:pt idx="8">
                  <c:v>0.22</c:v>
                </c:pt>
                <c:pt idx="9">
                  <c:v>0.245</c:v>
                </c:pt>
                <c:pt idx="10">
                  <c:v>0.27</c:v>
                </c:pt>
                <c:pt idx="11">
                  <c:v>0.295</c:v>
                </c:pt>
                <c:pt idx="12">
                  <c:v>0.32</c:v>
                </c:pt>
                <c:pt idx="13">
                  <c:v>0.345</c:v>
                </c:pt>
                <c:pt idx="14">
                  <c:v>0.37</c:v>
                </c:pt>
                <c:pt idx="15">
                  <c:v>0.395</c:v>
                </c:pt>
                <c:pt idx="16">
                  <c:v>0.42</c:v>
                </c:pt>
                <c:pt idx="17">
                  <c:v>0.445</c:v>
                </c:pt>
                <c:pt idx="18">
                  <c:v>0.47</c:v>
                </c:pt>
                <c:pt idx="19">
                  <c:v>0.495</c:v>
                </c:pt>
                <c:pt idx="20">
                  <c:v>0.52</c:v>
                </c:pt>
                <c:pt idx="21">
                  <c:v>0.545</c:v>
                </c:pt>
                <c:pt idx="22">
                  <c:v>0.57</c:v>
                </c:pt>
                <c:pt idx="23">
                  <c:v>0.595</c:v>
                </c:pt>
                <c:pt idx="24">
                  <c:v>0.62</c:v>
                </c:pt>
                <c:pt idx="25">
                  <c:v>0.645</c:v>
                </c:pt>
                <c:pt idx="26">
                  <c:v>0.67</c:v>
                </c:pt>
                <c:pt idx="27">
                  <c:v>0.695</c:v>
                </c:pt>
                <c:pt idx="28">
                  <c:v>0.72</c:v>
                </c:pt>
                <c:pt idx="29">
                  <c:v>0.745</c:v>
                </c:pt>
                <c:pt idx="30">
                  <c:v>0.77</c:v>
                </c:pt>
                <c:pt idx="31">
                  <c:v>0.795</c:v>
                </c:pt>
                <c:pt idx="32">
                  <c:v>0.82</c:v>
                </c:pt>
                <c:pt idx="33">
                  <c:v>0.845</c:v>
                </c:pt>
                <c:pt idx="34">
                  <c:v>0.87</c:v>
                </c:pt>
                <c:pt idx="35">
                  <c:v>0.895</c:v>
                </c:pt>
                <c:pt idx="36">
                  <c:v>0.92</c:v>
                </c:pt>
                <c:pt idx="37">
                  <c:v>0.945</c:v>
                </c:pt>
                <c:pt idx="38">
                  <c:v>0.97</c:v>
                </c:pt>
                <c:pt idx="39">
                  <c:v>0.995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3.912</c:v>
                </c:pt>
                <c:pt idx="1">
                  <c:v>3.101</c:v>
                </c:pt>
                <c:pt idx="2">
                  <c:v>2.659</c:v>
                </c:pt>
                <c:pt idx="3">
                  <c:v>2.354</c:v>
                </c:pt>
                <c:pt idx="4">
                  <c:v>2.12</c:v>
                </c:pt>
                <c:pt idx="5">
                  <c:v>1.931</c:v>
                </c:pt>
                <c:pt idx="6">
                  <c:v>1.772</c:v>
                </c:pt>
                <c:pt idx="7">
                  <c:v>1.635</c:v>
                </c:pt>
                <c:pt idx="8">
                  <c:v>1.514</c:v>
                </c:pt>
                <c:pt idx="9">
                  <c:v>1.406</c:v>
                </c:pt>
                <c:pt idx="10">
                  <c:v>1.309</c:v>
                </c:pt>
                <c:pt idx="11">
                  <c:v>1.221</c:v>
                </c:pt>
                <c:pt idx="12">
                  <c:v>1.139</c:v>
                </c:pt>
                <c:pt idx="13">
                  <c:v>1.064</c:v>
                </c:pt>
                <c:pt idx="14">
                  <c:v>0.994</c:v>
                </c:pt>
                <c:pt idx="15">
                  <c:v>0.929</c:v>
                </c:pt>
                <c:pt idx="16">
                  <c:v>0.868</c:v>
                </c:pt>
                <c:pt idx="17">
                  <c:v>0.81</c:v>
                </c:pt>
                <c:pt idx="18">
                  <c:v>0.755</c:v>
                </c:pt>
                <c:pt idx="19">
                  <c:v>0.703</c:v>
                </c:pt>
                <c:pt idx="20">
                  <c:v>0.654</c:v>
                </c:pt>
                <c:pt idx="21">
                  <c:v>0.607</c:v>
                </c:pt>
                <c:pt idx="22">
                  <c:v>0.562</c:v>
                </c:pt>
                <c:pt idx="23">
                  <c:v>0.519</c:v>
                </c:pt>
                <c:pt idx="24">
                  <c:v>0.478</c:v>
                </c:pt>
                <c:pt idx="25">
                  <c:v>0.439</c:v>
                </c:pt>
                <c:pt idx="26">
                  <c:v>0.4</c:v>
                </c:pt>
                <c:pt idx="27">
                  <c:v>0.364</c:v>
                </c:pt>
                <c:pt idx="28">
                  <c:v>0.329</c:v>
                </c:pt>
                <c:pt idx="29">
                  <c:v>0.294</c:v>
                </c:pt>
                <c:pt idx="30">
                  <c:v>0.261</c:v>
                </c:pt>
                <c:pt idx="31">
                  <c:v>0.229</c:v>
                </c:pt>
                <c:pt idx="32">
                  <c:v>0.198</c:v>
                </c:pt>
                <c:pt idx="33">
                  <c:v>0.168</c:v>
                </c:pt>
                <c:pt idx="34">
                  <c:v>0.139</c:v>
                </c:pt>
                <c:pt idx="35">
                  <c:v>0.111</c:v>
                </c:pt>
                <c:pt idx="36">
                  <c:v>0.083</c:v>
                </c:pt>
                <c:pt idx="37">
                  <c:v>0.057</c:v>
                </c:pt>
                <c:pt idx="38">
                  <c:v>0.03</c:v>
                </c:pt>
                <c:pt idx="39">
                  <c:v>0.005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 la clase real es 0:  −ln(1−p)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0.02</c:v>
                </c:pt>
                <c:pt idx="1">
                  <c:v>0.045</c:v>
                </c:pt>
                <c:pt idx="2">
                  <c:v>0.07</c:v>
                </c:pt>
                <c:pt idx="3">
                  <c:v>0.095</c:v>
                </c:pt>
                <c:pt idx="4">
                  <c:v>0.12</c:v>
                </c:pt>
                <c:pt idx="5">
                  <c:v>0.145</c:v>
                </c:pt>
                <c:pt idx="6">
                  <c:v>0.17</c:v>
                </c:pt>
                <c:pt idx="7">
                  <c:v>0.195</c:v>
                </c:pt>
                <c:pt idx="8">
                  <c:v>0.22</c:v>
                </c:pt>
                <c:pt idx="9">
                  <c:v>0.245</c:v>
                </c:pt>
                <c:pt idx="10">
                  <c:v>0.27</c:v>
                </c:pt>
                <c:pt idx="11">
                  <c:v>0.295</c:v>
                </c:pt>
                <c:pt idx="12">
                  <c:v>0.32</c:v>
                </c:pt>
                <c:pt idx="13">
                  <c:v>0.345</c:v>
                </c:pt>
                <c:pt idx="14">
                  <c:v>0.37</c:v>
                </c:pt>
                <c:pt idx="15">
                  <c:v>0.395</c:v>
                </c:pt>
                <c:pt idx="16">
                  <c:v>0.42</c:v>
                </c:pt>
                <c:pt idx="17">
                  <c:v>0.445</c:v>
                </c:pt>
                <c:pt idx="18">
                  <c:v>0.47</c:v>
                </c:pt>
                <c:pt idx="19">
                  <c:v>0.495</c:v>
                </c:pt>
                <c:pt idx="20">
                  <c:v>0.52</c:v>
                </c:pt>
                <c:pt idx="21">
                  <c:v>0.545</c:v>
                </c:pt>
                <c:pt idx="22">
                  <c:v>0.57</c:v>
                </c:pt>
                <c:pt idx="23">
                  <c:v>0.595</c:v>
                </c:pt>
                <c:pt idx="24">
                  <c:v>0.62</c:v>
                </c:pt>
                <c:pt idx="25">
                  <c:v>0.645</c:v>
                </c:pt>
                <c:pt idx="26">
                  <c:v>0.67</c:v>
                </c:pt>
                <c:pt idx="27">
                  <c:v>0.695</c:v>
                </c:pt>
                <c:pt idx="28">
                  <c:v>0.72</c:v>
                </c:pt>
                <c:pt idx="29">
                  <c:v>0.745</c:v>
                </c:pt>
                <c:pt idx="30">
                  <c:v>0.77</c:v>
                </c:pt>
                <c:pt idx="31">
                  <c:v>0.795</c:v>
                </c:pt>
                <c:pt idx="32">
                  <c:v>0.82</c:v>
                </c:pt>
                <c:pt idx="33">
                  <c:v>0.845</c:v>
                </c:pt>
                <c:pt idx="34">
                  <c:v>0.87</c:v>
                </c:pt>
                <c:pt idx="35">
                  <c:v>0.895</c:v>
                </c:pt>
                <c:pt idx="36">
                  <c:v>0.92</c:v>
                </c:pt>
                <c:pt idx="37">
                  <c:v>0.945</c:v>
                </c:pt>
                <c:pt idx="38">
                  <c:v>0.97</c:v>
                </c:pt>
                <c:pt idx="39">
                  <c:v>0.995</c:v>
                </c:pt>
              </c:numCache>
            </c:numRef>
          </c:xVal>
          <c:yVal>
            <c:numRef>
              <c:f>Sheet1!$C$2:$C$41</c:f>
              <c:numCache>
                <c:formatCode>General</c:formatCode>
                <c:ptCount val="40"/>
                <c:pt idx="0">
                  <c:v>0.02</c:v>
                </c:pt>
                <c:pt idx="1">
                  <c:v>0.046</c:v>
                </c:pt>
                <c:pt idx="2">
                  <c:v>0.073</c:v>
                </c:pt>
                <c:pt idx="3">
                  <c:v>0.1</c:v>
                </c:pt>
                <c:pt idx="4">
                  <c:v>0.128</c:v>
                </c:pt>
                <c:pt idx="5">
                  <c:v>0.157</c:v>
                </c:pt>
                <c:pt idx="6">
                  <c:v>0.186</c:v>
                </c:pt>
                <c:pt idx="7">
                  <c:v>0.217</c:v>
                </c:pt>
                <c:pt idx="8">
                  <c:v>0.248</c:v>
                </c:pt>
                <c:pt idx="9">
                  <c:v>0.281</c:v>
                </c:pt>
                <c:pt idx="10">
                  <c:v>0.315</c:v>
                </c:pt>
                <c:pt idx="11">
                  <c:v>0.35</c:v>
                </c:pt>
                <c:pt idx="12">
                  <c:v>0.386</c:v>
                </c:pt>
                <c:pt idx="13">
                  <c:v>0.423</c:v>
                </c:pt>
                <c:pt idx="14">
                  <c:v>0.462</c:v>
                </c:pt>
                <c:pt idx="15">
                  <c:v>0.503</c:v>
                </c:pt>
                <c:pt idx="16">
                  <c:v>0.545</c:v>
                </c:pt>
                <c:pt idx="17">
                  <c:v>0.589</c:v>
                </c:pt>
                <c:pt idx="18">
                  <c:v>0.635</c:v>
                </c:pt>
                <c:pt idx="19">
                  <c:v>0.683</c:v>
                </c:pt>
                <c:pt idx="20">
                  <c:v>0.734</c:v>
                </c:pt>
                <c:pt idx="21">
                  <c:v>0.787</c:v>
                </c:pt>
                <c:pt idx="22">
                  <c:v>0.844</c:v>
                </c:pt>
                <c:pt idx="23">
                  <c:v>0.904</c:v>
                </c:pt>
                <c:pt idx="24">
                  <c:v>0.968</c:v>
                </c:pt>
                <c:pt idx="25">
                  <c:v>1.036</c:v>
                </c:pt>
                <c:pt idx="26">
                  <c:v>1.109</c:v>
                </c:pt>
                <c:pt idx="27">
                  <c:v>1.187</c:v>
                </c:pt>
                <c:pt idx="28">
                  <c:v>1.273</c:v>
                </c:pt>
                <c:pt idx="29">
                  <c:v>1.366</c:v>
                </c:pt>
                <c:pt idx="30">
                  <c:v>1.47</c:v>
                </c:pt>
                <c:pt idx="31">
                  <c:v>1.585</c:v>
                </c:pt>
                <c:pt idx="32">
                  <c:v>1.715</c:v>
                </c:pt>
                <c:pt idx="33">
                  <c:v>1.864</c:v>
                </c:pt>
                <c:pt idx="34">
                  <c:v>2.04</c:v>
                </c:pt>
                <c:pt idx="35">
                  <c:v>2.254</c:v>
                </c:pt>
                <c:pt idx="36">
                  <c:v>2.526</c:v>
                </c:pt>
                <c:pt idx="37">
                  <c:v>2.9</c:v>
                </c:pt>
                <c:pt idx="38">
                  <c:v>3.507</c:v>
                </c:pt>
                <c:pt idx="39">
                  <c:v>5.298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Probabilidad predicha de clase 1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Pérdida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en train</c:v>
                </c:pt>
              </c:strCache>
            </c:strRef>
          </c:tx>
          <c:spPr>
            <a:solidFill>
              <a:srgbClr val="1F8A8A"/>
            </a:solidFill>
            <a:ln w="38100" cap="flat">
              <a:solidFill>
                <a:srgbClr val="1F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Simple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Complejo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6.5</c:v>
                </c:pt>
                <c:pt idx="2">
                  <c:v>4.5</c:v>
                </c:pt>
                <c:pt idx="3">
                  <c:v>3</c:v>
                </c:pt>
                <c:pt idx="4">
                  <c:v>2</c:v>
                </c:pt>
                <c:pt idx="5">
                  <c:v>1.2</c:v>
                </c:pt>
                <c:pt idx="6">
                  <c:v>0.6</c:v>
                </c:pt>
                <c:pt idx="7">
                  <c:v>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 en test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Simple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Complejo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7.5</c:v>
                </c:pt>
                <c:pt idx="2">
                  <c:v>5.8</c:v>
                </c:pt>
                <c:pt idx="3">
                  <c:v>5</c:v>
                </c:pt>
                <c:pt idx="4">
                  <c:v>5.2</c:v>
                </c:pt>
                <c:pt idx="5">
                  <c:v>6.2</c:v>
                </c:pt>
                <c:pt idx="6">
                  <c:v>7.8</c:v>
                </c:pt>
                <c:pt idx="7">
                  <c:v>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Complejidad del modelo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Error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solidFill>
              <a:srgbClr val="1F8A8A"/>
            </a:solidFill>
            <a:ln w="38100" cap="flat">
              <a:solidFill>
                <a:srgbClr val="1F8A8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0.5</c:v>
                </c:pt>
                <c:pt idx="7">
                  <c:v>0.7</c:v>
                </c:pt>
                <c:pt idx="8">
                  <c:v>1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0.45</c:v>
                </c:pt>
                <c:pt idx="2">
                  <c:v>0.65</c:v>
                </c:pt>
                <c:pt idx="3">
                  <c:v>0.78</c:v>
                </c:pt>
                <c:pt idx="4">
                  <c:v>0.88</c:v>
                </c:pt>
                <c:pt idx="5">
                  <c:v>0.93</c:v>
                </c:pt>
                <c:pt idx="6">
                  <c:v>0.97</c:v>
                </c:pt>
                <c:pt idx="7">
                  <c:v>0.99</c:v>
                </c:pt>
                <c:pt idx="8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Azar (AUC = 0.5)</c:v>
                </c:pt>
              </c:strCache>
            </c:strRef>
          </c:tx>
          <c:spPr>
            <a:solidFill>
              <a:srgbClr val="5B6B73"/>
            </a:solidFill>
            <a:ln w="38100" cap="flat">
              <a:solidFill>
                <a:srgbClr val="5B6B7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5B6B73"/>
              </a:solidFill>
              <a:ln w="9525" cap="flat">
                <a:solidFill>
                  <a:srgbClr val="5B6B73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0.5</c:v>
                </c:pt>
                <c:pt idx="7">
                  <c:v>0.7</c:v>
                </c:pt>
                <c:pt idx="8">
                  <c:v>1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0.5</c:v>
                </c:pt>
                <c:pt idx="7">
                  <c:v>0.7</c:v>
                </c:pt>
                <c:pt idx="8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Tasa de falsos positivos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Tasa de verdaderos positivos (recall)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1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313A"/>
                </a:solidFill>
                <a:latin typeface="+mn-lt"/>
              </a:rPr>
              <a:t>Efecto del umbral (dataset de práctica)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F8A8A"/>
            </a:solidFill>
            <a:ln w="38100" cap="flat">
              <a:solidFill>
                <a:srgbClr val="1F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</c:v>
                </c:pt>
                <c:pt idx="1">
                  <c:v>0.42</c:v>
                </c:pt>
                <c:pt idx="2">
                  <c:v>0.5</c:v>
                </c:pt>
                <c:pt idx="3">
                  <c:v>0.81</c:v>
                </c:pt>
                <c:pt idx="4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0.95</c:v>
                </c:pt>
                <c:pt idx="1">
                  <c:v>0.78</c:v>
                </c:pt>
                <c:pt idx="2">
                  <c:v>0.68</c:v>
                </c:pt>
                <c:pt idx="3">
                  <c:v>0.42</c:v>
                </c:pt>
                <c:pt idx="4">
                  <c:v>0.22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+mn-lt"/>
                  </a:rPr>
                  <a:t>Umbral de decisión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E2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clase. Recorrido: fundamentos → regresión lineal → logística → ensembles → métricas → validación y ajuste → práctica con dos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bloques teóricos y dos prácticas en Jupyter. La demo del docente cierra el bloque teórico; la práctica con alumnos va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Aprender = encontrar los mejores parámetros a partir de ejemplos con respuesta conocida.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observación. Las columnas de la izquierda predicen la de la derecha. Esta tabla viene del dataset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comparativa del material. Preguntarle a la clase en cuál de los dos casos cae cada pregunta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básico agregado: partición train/test y data leakage. Se retoma en validación cruzada.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ilustrativo: temperatura vs. alquileres por hora. La recta resume la tendencia. Con varias variables: regresión múltiple.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betas son los parámetros: los encuentra el algoritmo, no el analista. El coeficiente da interpretabilidad.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Función de pérdida = puntaje de dolor. Elevar al cuadrado elimina signos y castiga más los errores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agregado: MAE, RMSE y R². En el notebook se calculan con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de bajar una montaña con niebla. La tasa de aprendizaje es un hiperparámetro. Se programa a mano en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recta seguiría creciendo y daría valores como 1.5 o −0.2. La sigmoide comprime cualquier z al rango 0–1.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clasificar no usamos MSE sino entropía cruzada. Lo que importa: equivocarse con mucha seguridad duele muchísimo.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pregunta para decidir: ¿qué tipo de respuesta necesito?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agregado: subajuste vs. sobreajuste. Prepara el terreno para los ensembles.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mismos cuatro tropiezos aparecen en el notebook. Remarcar que scikit-learn no avisa si el modelo es el equivocado.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“Dos cabezas piensan mejor que una”: combinar modelos reduce los errores individuales.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Aggregating. Random Forest es la implementación más conocida. Sirve para modelos potentes pero inestables.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modelos son secuenciales y dependientes. Cuidado con demasiadas iteraciones y con los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diferencia de bagging y boosting, mezcla familias distintas de modelos. El meta-modelo aprende en cuál confiar en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del material. Cerrar con la regla práctica de la última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Cruza la realidad con lo que predijo el modelo. Usar el ejemplo del filtro de spam (spam = positivo).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accuracy engaña con clases desbalanceadas. F1 usa media armónica: si una de las dos es baja, F1 es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ROC recorre todos los umbrales posibles. El AUC resume en un número qué tan bien separa el modelo a las dos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sale de la regresión logística del notebook de práctica (diabetes): bajar el umbral sube el recall a costa de la precisión.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dato participa en entrenamiento y en validación. Reportar promedio y desviación; un desvío alto indica un modelo inestable.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en clasificación, StratifiedKFold. El test final se toca una sola vez. La CV evalúa; no entrena el modelo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Parámetros se aprenden; hiperparámetros se configuran antes. GridSearchCV prueba todas las combinaciones, cada una con validación cruzada.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operativo que se aplica en los dos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docente ejecuta 01_Demo_docente_bicicletas.ipynb de punta a punta. Un dataset, dos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alumnos completan 02_Practica_alumnos_diabetes.ipynb. El docente tiene la versión resuelta con guía de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Invitar a abrir el notebook de práctica y completar los TODO. La solución queda para 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de Modelado · Regresión y clasificación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2588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83464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LABORATORIO DE MODELADO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Regresión lineal y logística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834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 la recta al modelo validado: pérdida, ensembles, métricas y ajuste de hiperparámetros</a:t>
            </a:r>
            <a:endParaRPr lang="en-US" sz="1800" dirty="0"/>
          </a:p>
        </p:txBody>
      </p:sp>
      <p:sp>
        <p:nvSpPr>
          <p:cNvPr id="5" name="recta"/>
          <p:cNvSpPr/>
          <p:nvPr/>
        </p:nvSpPr>
        <p:spPr>
          <a:xfrm flipV="1">
            <a:off x="5760720" y="1371600"/>
            <a:ext cx="2834640" cy="26517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punto"/>
          <p:cNvSpPr/>
          <p:nvPr/>
        </p:nvSpPr>
        <p:spPr>
          <a:xfrm>
            <a:off x="6126480" y="3566160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" name="punto"/>
          <p:cNvSpPr/>
          <p:nvPr/>
        </p:nvSpPr>
        <p:spPr>
          <a:xfrm>
            <a:off x="6400800" y="30175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"/>
          <p:cNvSpPr/>
          <p:nvPr/>
        </p:nvSpPr>
        <p:spPr>
          <a:xfrm>
            <a:off x="6675120" y="32918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"/>
          <p:cNvSpPr/>
          <p:nvPr/>
        </p:nvSpPr>
        <p:spPr>
          <a:xfrm>
            <a:off x="6949440" y="2468880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punto"/>
          <p:cNvSpPr/>
          <p:nvPr/>
        </p:nvSpPr>
        <p:spPr>
          <a:xfrm>
            <a:off x="7223760" y="26517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unto"/>
          <p:cNvSpPr/>
          <p:nvPr/>
        </p:nvSpPr>
        <p:spPr>
          <a:xfrm>
            <a:off x="7498080" y="20116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unto"/>
          <p:cNvSpPr/>
          <p:nvPr/>
        </p:nvSpPr>
        <p:spPr>
          <a:xfrm>
            <a:off x="7772400" y="2194560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punto"/>
          <p:cNvSpPr/>
          <p:nvPr/>
        </p:nvSpPr>
        <p:spPr>
          <a:xfrm>
            <a:off x="8046720" y="1463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unto"/>
          <p:cNvSpPr/>
          <p:nvPr/>
        </p:nvSpPr>
        <p:spPr>
          <a:xfrm>
            <a:off x="8321040" y="1737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unto"/>
          <p:cNvSpPr/>
          <p:nvPr/>
        </p:nvSpPr>
        <p:spPr>
          <a:xfrm>
            <a:off x="5852160" y="3931920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punto"/>
          <p:cNvSpPr/>
          <p:nvPr/>
        </p:nvSpPr>
        <p:spPr>
          <a:xfrm>
            <a:off x="6537960" y="27432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punto"/>
          <p:cNvSpPr/>
          <p:nvPr/>
        </p:nvSpPr>
        <p:spPr>
          <a:xfrm>
            <a:off x="7315200" y="22860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Mapa de la clase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circle"/>
          <p:cNvSpPr/>
          <p:nvPr/>
        </p:nvSpPr>
        <p:spPr>
          <a:xfrm>
            <a:off x="621792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6751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03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Fundamentos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Variables, tipos de problema y partición de datos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3264408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2" name="circle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67518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6752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Regresión lineal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Recta, parámetros, pérdida (MSE) y gradiente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6071616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8" name="circle"/>
          <p:cNvSpPr/>
          <p:nvPr/>
        </p:nvSpPr>
        <p:spPr>
          <a:xfrm>
            <a:off x="6236208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167518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7473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623620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Regresión logística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36208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Sigmoide, probabilidad y Log Loss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57200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4" name="circle"/>
          <p:cNvSpPr/>
          <p:nvPr/>
        </p:nvSpPr>
        <p:spPr>
          <a:xfrm>
            <a:off x="621792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3" descr="FaLayer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3" y="327538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603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621792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Ensembles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Bagging, Boosting y Stacking</a:t>
            </a:r>
            <a:endParaRPr lang="en-US" sz="1100" dirty="0"/>
          </a:p>
        </p:txBody>
      </p:sp>
      <p:sp>
        <p:nvSpPr>
          <p:cNvPr id="29" name="card"/>
          <p:cNvSpPr/>
          <p:nvPr/>
        </p:nvSpPr>
        <p:spPr>
          <a:xfrm>
            <a:off x="3264408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0" name="circle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4" descr="FaBulls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27538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6752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34290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Evaluación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342900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Matriz de confusión, F1 y AUC-ROC</a:t>
            </a:r>
            <a:endParaRPr lang="en-US" sz="1100" dirty="0"/>
          </a:p>
        </p:txBody>
      </p:sp>
      <p:sp>
        <p:nvSpPr>
          <p:cNvPr id="35" name="card"/>
          <p:cNvSpPr/>
          <p:nvPr/>
        </p:nvSpPr>
        <p:spPr>
          <a:xfrm>
            <a:off x="6071616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6" name="circle"/>
          <p:cNvSpPr/>
          <p:nvPr/>
        </p:nvSpPr>
        <p:spPr>
          <a:xfrm>
            <a:off x="6236208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5" descr="FaSlider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909" y="3275381"/>
            <a:ext cx="261518" cy="26151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4736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6</a:t>
            </a:r>
            <a:endParaRPr lang="en-US" sz="2400" dirty="0"/>
          </a:p>
        </p:txBody>
      </p:sp>
      <p:sp>
        <p:nvSpPr>
          <p:cNvPr id="39" name="Text 30"/>
          <p:cNvSpPr txBox="1"/>
          <p:nvPr/>
        </p:nvSpPr>
        <p:spPr>
          <a:xfrm>
            <a:off x="6236208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Validación y ajuste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236208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K-Fold y GridSearchCV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FUNDAMENTOS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Aprendizaje supervisado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4688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6" name="circle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404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Datos históricos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fila trae las características (X) y la respuesta correcta (y)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2999232" y="2103120"/>
            <a:ext cx="29260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3337560" y="1371600"/>
            <a:ext cx="24688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circle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6404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204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Entrenamiento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algoritmo ajusta sus parámetros para equivocarse lo menos posible</a:t>
            </a:r>
            <a:endParaRPr lang="en-US" sz="1200" dirty="0"/>
          </a:p>
        </p:txBody>
      </p:sp>
      <p:sp>
        <p:nvSpPr>
          <p:cNvPr id="16" name="arrow"/>
          <p:cNvSpPr/>
          <p:nvPr/>
        </p:nvSpPr>
        <p:spPr>
          <a:xfrm>
            <a:off x="5879592" y="2103120"/>
            <a:ext cx="29260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card"/>
          <p:cNvSpPr/>
          <p:nvPr/>
        </p:nvSpPr>
        <p:spPr>
          <a:xfrm>
            <a:off x="6217920" y="1371600"/>
            <a:ext cx="24688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8" name="circle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64043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008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Recibe una observación nueva (solo X) y predice y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Dos tareas, una pregunta clave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¿Qué tipo de respuesta necesito? Un número (regresión) o una categoría (clasificación). El resto del curso se apoya en esa decisión.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FUNDAMENTOS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Variables: X e 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temperatura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hora_pico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lluvia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alquileres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22.1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12.7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25.3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A"/>
                          </a:solidFill>
                        </a:rPr>
                        <a:t>153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Cada fila = una observación (una hora de operación).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852160" y="141732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932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Independientes (X)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Predictores o features: lo que ya conocemos.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852160" y="2606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CEBD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989320" y="26974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5B00"/>
                </a:solidFill>
              </a:rPr>
              <a:t>Dependiente (y)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Objetivo o target: lo que queremos predecir.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El tipo de y decide el modelo: número → regresión · categoría → clasificación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FUNDAMENTOS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Regresión vs. clasificación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¿Cuánto…? ¿Cuántos…?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 objetivo continua: puede tomar cualquier valor de un rango.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Ejemplo: la temperatura de mañana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663440" y="137160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¿Es A o B? ¿Sucederá?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9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 objetivo categórica (en este curso, binaria): una clase o su probabilidad.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Ejemplo: si mañana lloverá o no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Resultado del modelo: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lineal → un valor numérico  ·  logística → una probabilidad entre 0 y 1 que luego se convierte en decisión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FUNDAMENTOS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Datos de entrenamiento y de prueba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rain"/>
          <p:cNvSpPr/>
          <p:nvPr/>
        </p:nvSpPr>
        <p:spPr>
          <a:xfrm>
            <a:off x="594360" y="1554480"/>
            <a:ext cx="630936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7" name="test"/>
          <p:cNvSpPr/>
          <p:nvPr/>
        </p:nvSpPr>
        <p:spPr>
          <a:xfrm>
            <a:off x="6995160" y="1554480"/>
            <a:ext cx="1554480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5544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 · 80 % · el modelo aprende acá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· 20 %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2606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circle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852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 test queda “bajo llave”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usa una sola vez, al final, para estimar el desempeño real.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3264408" y="2606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circle"/>
          <p:cNvSpPr/>
          <p:nvPr/>
        </p:nvSpPr>
        <p:spPr>
          <a:xfrm>
            <a:off x="3447288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1" descr="FaFl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8529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47288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Fuga de datos (data leakage)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447288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Imputar o escalar con todo el dataset filtra información del test. Se ajusta solo con train.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6071616" y="2606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1" name="circle"/>
          <p:cNvSpPr/>
          <p:nvPr/>
        </p:nvSpPr>
        <p:spPr>
          <a:xfrm>
            <a:off x="6254496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2" descr="FaRand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8529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54496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Partición estratificada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254496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clasificación, train y test conservan la proporción de clases.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REGRESIÓN LINEAL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recta como modelo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943600" y="1417320"/>
            <a:ext cx="2743200" cy="31089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08076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β₀ + β₁ · x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080760" y="21945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ŷ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predicción del modelo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x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variable independiente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β₀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intercepto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β₁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coeficiente (pendiente)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Con varias variables: ŷ = β₀ + β₁x₁ + β₂x₂ + … + βₖxₖ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REGRESIÓN LINEAL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Intercepto y coeficiente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β₀ · Intercepto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Valor base de ŷ cuando todas las x valen 0. A veces no tiene sentido físico, pero ubica la recta a la altura correcta.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3716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48132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96B00"/>
                </a:solidFill>
              </a:rPr>
              <a:t>β₁ · Coeficiente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Cuánto cambia ŷ cuando x aumenta en 1 unidad, manteniendo lo demás constante.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88036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β₁ &gt; 0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x sube → ŷ sube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264408" y="288036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47288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β₁ &lt; 0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x sube → ŷ baja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288036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54496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β₁ ≈ 0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x no aporta a ŷ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Ejemplo:  ŷ = 20 + 3 · temperatura   →   a 15 °C se predicen 65 alquileres/hora;  cada +1 °C suma 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REGRESIÓN LINEAL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Error y pérdida: el MSE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(1/n) · Σ ( y_real − y_predicho )²</a:t>
            </a:r>
            <a:endParaRPr lang="en-US" sz="2400" dirty="0"/>
          </a:p>
        </p:txBody>
      </p:sp>
      <p:sp>
        <p:nvSpPr>
          <p:cNvPr id="7" name="card"/>
          <p:cNvSpPr/>
          <p:nvPr/>
        </p:nvSpPr>
        <p:spPr>
          <a:xfrm>
            <a:off x="45720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circle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Diferencia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Valor real menos valor predicho para cada fila (el residuo).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3264408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circle"/>
          <p:cNvSpPr/>
          <p:nvPr/>
        </p:nvSpPr>
        <p:spPr>
          <a:xfrm>
            <a:off x="3447288" y="2377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47288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995928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 cuadrado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47288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Quita los signos negativos y penaliza mucho más los errores grandes.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071616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circle"/>
          <p:cNvSpPr/>
          <p:nvPr/>
        </p:nvSpPr>
        <p:spPr>
          <a:xfrm>
            <a:off x="6254496" y="2377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54496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03136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Promedio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54496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promedian todos los cuadrados: un solo número de “dolor”.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error de 2 pasa a 4; un error de 100 pasa a 10 000.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Un solo outlier puede tirar de toda la recta.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REGRESIÓN LINEAL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Métricas de regresión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14630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mide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Unidades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Cuándo mirarla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Error absoluto promedio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las de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Fácil de explicar; poco sensible a outliers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Promedio de los errores al cuadrado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las de y al cuadrado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Es la función de pérdida con la que se entrena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Raíz cuadrada del 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las de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El error “típico”, interpretable, penaliza errores grandes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Proporción de la variación de y que explica el modelo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sin unidad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1 = perfecto; 0 = no mejora a predecir el promedio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Siempre comparar contra un baseline simple: predecir siempre el promedio.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REGRESIÓN LINEAL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Descenso del gradiente</a:t>
            </a:r>
            <a:endParaRPr lang="en-US" sz="3000" dirty="0"/>
          </a:p>
        </p:txBody>
      </p:sp>
      <p:sp>
        <p:nvSpPr>
          <p:cNvPr id="5" name="circle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Empieza con coeficientes al azar (β₀, β₁).</a:t>
            </a:r>
            <a:endParaRPr lang="en-US" sz="1400" dirty="0"/>
          </a:p>
        </p:txBody>
      </p:sp>
      <p:sp>
        <p:nvSpPr>
          <p:cNvPr id="8" name="circle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 la pérdida (MSE o Log Loss).</a:t>
            </a:r>
            <a:endParaRPr lang="en-US" sz="1400" dirty="0"/>
          </a:p>
        </p:txBody>
      </p:sp>
      <p:sp>
        <p:nvSpPr>
          <p:cNvPr id="11" name="circle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7980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Mide en qué dirección bajar: el gradiente.</a:t>
            </a:r>
            <a:endParaRPr lang="en-US" sz="1400" dirty="0"/>
          </a:p>
        </p:txBody>
      </p:sp>
      <p:sp>
        <p:nvSpPr>
          <p:cNvPr id="14" name="circle"/>
          <p:cNvSpPr/>
          <p:nvPr/>
        </p:nvSpPr>
        <p:spPr>
          <a:xfrm>
            <a:off x="457200" y="35112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5112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Ajusta un poco los coeficientes y repite miles de veces.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" y="420624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FCEBD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700"/>
                </a:solidFill>
              </a:rPr>
              <a:t>lr (tasa de aprendizaje): muy baja = lento · muy alta = diverge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0" y="1280160"/>
          <a:ext cx="4114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REGRESIÓN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la recta a la curva en 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486400" y="1417320"/>
            <a:ext cx="32004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66928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 / (1 + e⁻ᶻ)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21031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Resultado entre 0 y 1: la probabilidad de la clase positiva.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Umbral 0.5: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 &gt; 0.5 → clase 1; p &lt; 0.5 → clase 0.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0.85 significa 85 % de probabilidad de pertenecer a la clase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 es una combinación lineal: el “motor” sigue siendo una recta.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REGRESIÓN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 Loss: castigo a la falsa confianza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669280" y="14173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DDEFE3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852160" y="15544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6B3F"/>
                </a:solidFill>
              </a:rPr>
              <a:t>Predice 99 % y acierta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Loss ≈ 0.01: casi sin castigo.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669280" y="29718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BE0D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52160" y="310896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321A"/>
                </a:solidFill>
              </a:rPr>
              <a:t>Predice 99 % y se equivoca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Loss ≈ 4.6: castigo enorme. El modelo aprende a no ser tan categórico.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REGRESIÓN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Lineal vs. logística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Regresión lineal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Regresión logística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6B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Variable objetivo (y)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Continua (números)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Categórica / binaria (clases)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Resultado del modelo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Un valor numérico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Una probabilidad entre 0 y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Pregunta que responde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¿Cuánto…? ¿Cuántos…?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¿Es A o B? ¿Sucederá?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Función de pérdida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Log Loss (entropía cruzada)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Forma de la curva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Recta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Sigmoide (curva en 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 logística es técnicamente una regresión que devuelve probabilidades; se usa como clasificador al aplicar un umbral.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REGRESIÓN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Sesgo y varianza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486400" y="1417320"/>
            <a:ext cx="32004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circle"/>
          <p:cNvSpPr/>
          <p:nvPr/>
        </p:nvSpPr>
        <p:spPr>
          <a:xfrm>
            <a:off x="5623560" y="16916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72200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Subajuste · sesgo alto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Modelo demasiado simple: falla en train y en test.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5486400" y="2496312"/>
            <a:ext cx="32004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1" name="circle"/>
          <p:cNvSpPr/>
          <p:nvPr/>
        </p:nvSpPr>
        <p:spPr>
          <a:xfrm>
            <a:off x="5623560" y="2770632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72200" y="2587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Buen ajuste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Captura el patrón y generaliza a datos nuevos.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5486400" y="3575304"/>
            <a:ext cx="32004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5" name="circle"/>
          <p:cNvSpPr/>
          <p:nvPr/>
        </p:nvSpPr>
        <p:spPr>
          <a:xfrm>
            <a:off x="5623560" y="3849624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36667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Sobreajuste · varianza alta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3959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Memoriza el ruido: brilla en train, falla en test.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REGRESIÓN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Errores comunes y buenas prácticas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circle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RulerCombin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6751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Escalar las variables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Ingresos (0–1 000 000) y edad (0–100) no compiten en igual escala. Usar StandardScaler, ajustado solo con train.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1" name="circle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1" y="16751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Cuidado con los outliers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53212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MSE los eleva al cuadrado: un dato mal cargado arruina la recta. Analizarlos antes.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circle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Fa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321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asumir linealidad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 la relación es curva, la recta rinde mal. Transformar variables o usar ensembles.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circle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Fa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021" y="332110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3212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Verificar la variable objetivo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53212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LinearRegression() sobre una clase da resultados, pero estadísticamente inválidos.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ENSEMBLES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fuerza del grupo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Modelo 1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560320" y="150876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ard"/>
          <p:cNvSpPr/>
          <p:nvPr/>
        </p:nvSpPr>
        <p:spPr>
          <a:xfrm>
            <a:off x="457200" y="2057400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057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Modelo 2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2560320" y="219456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457200" y="2743200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743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Modelo 3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2560320" y="288036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card"/>
          <p:cNvSpPr/>
          <p:nvPr/>
        </p:nvSpPr>
        <p:spPr>
          <a:xfrm>
            <a:off x="3063240" y="1371600"/>
            <a:ext cx="2103120" cy="1938528"/>
          </a:xfrm>
          <a:prstGeom prst="roundRect">
            <a:avLst>
              <a:gd name="adj" fmla="val 3774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63240" y="1371600"/>
            <a:ext cx="21031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Combinación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(voto o meta-modelo)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5257800" y="219456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card"/>
          <p:cNvSpPr/>
          <p:nvPr/>
        </p:nvSpPr>
        <p:spPr>
          <a:xfrm>
            <a:off x="5715000" y="1371600"/>
            <a:ext cx="2971800" cy="1938528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15000" y="1371600"/>
            <a:ext cx="29718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Predicción final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más precisa y estable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457200" y="3520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0" name="circle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Bagging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Reduce la varianza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3264408" y="3520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5" name="circle"/>
          <p:cNvSpPr/>
          <p:nvPr/>
        </p:nvSpPr>
        <p:spPr>
          <a:xfrm>
            <a:off x="3447288" y="3794760"/>
            <a:ext cx="502920" cy="502920"/>
          </a:xfrm>
          <a:prstGeom prst="ellipse">
            <a:avLst/>
          </a:prstGeom>
          <a:solidFill>
            <a:srgbClr val="B96B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44728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087368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Boosting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087368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Reduce el sesgo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071616" y="3520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30" name="circle"/>
          <p:cNvSpPr/>
          <p:nvPr/>
        </p:nvSpPr>
        <p:spPr>
          <a:xfrm>
            <a:off x="6254496" y="3794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254496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894576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Stacking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894576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Combina familias distintas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ENSEMBLES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Bagging: el poder del paralelismo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46304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completo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1993392" y="2011680"/>
            <a:ext cx="27432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ard"/>
          <p:cNvSpPr/>
          <p:nvPr/>
        </p:nvSpPr>
        <p:spPr>
          <a:xfrm>
            <a:off x="2377440" y="132588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Muestra 1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187952" y="1417320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4572000" y="132588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Árbol 1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2377440" y="1856232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37744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Muestra 2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4187952" y="1947672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card"/>
          <p:cNvSpPr/>
          <p:nvPr/>
        </p:nvSpPr>
        <p:spPr>
          <a:xfrm>
            <a:off x="4572000" y="1856232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Árbol 2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2377440" y="2386584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377440" y="2386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Muestra 3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4187952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1" name="card"/>
          <p:cNvSpPr/>
          <p:nvPr/>
        </p:nvSpPr>
        <p:spPr>
          <a:xfrm>
            <a:off x="4572000" y="2386584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0" y="2386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Árbol 3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6400800" y="2011680"/>
            <a:ext cx="27432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4" name="card"/>
          <p:cNvSpPr/>
          <p:nvPr/>
        </p:nvSpPr>
        <p:spPr>
          <a:xfrm>
            <a:off x="676656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766560" y="1463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Votación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mayoritaria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457200" y="3200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31012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Bootstrap: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al azar con reemplazo.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Paralelo: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árbol se entrena por separado.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Agregación: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gana la clase con más votos.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4663440" y="3200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46320" y="331012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Random Forest: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además usa un subconjunto aleatorio de columnas en cada nodo.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¿Por qué funciona?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árboles diversos cometen errores distintos y se cancelan.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ENSEMBLES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Boosting: aprender de los errores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Árbol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(aprendiz débil)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2048256" y="1783080"/>
            <a:ext cx="21945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ard"/>
          <p:cNvSpPr/>
          <p:nvPr/>
        </p:nvSpPr>
        <p:spPr>
          <a:xfrm>
            <a:off x="2286000" y="137160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28600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Errores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 más peso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877056" y="1783080"/>
            <a:ext cx="21945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4114800" y="137160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1480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Árbol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corrige a 1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5705856" y="1783080"/>
            <a:ext cx="21945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card"/>
          <p:cNvSpPr/>
          <p:nvPr/>
        </p:nvSpPr>
        <p:spPr>
          <a:xfrm>
            <a:off x="5943600" y="137160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… y así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sucesivamente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7534656" y="1783080"/>
            <a:ext cx="21945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card"/>
          <p:cNvSpPr/>
          <p:nvPr/>
        </p:nvSpPr>
        <p:spPr>
          <a:xfrm>
            <a:off x="7772400" y="1371600"/>
            <a:ext cx="914400" cy="10515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0" y="13716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final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5176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AdaBoost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Ajusta los pesos de las filas mal clasificadas en cada iteración.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663440" y="265176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Gradient Boosting y XGBoost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Predice el residuo (el error) del modelo anterior con descenso del gradiente.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BE0D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A"/>
                </a:solidFill>
              </a:rPr>
              <a:t>Objetivo: reducir el sesgo.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Riesgo: con demasiadas iteraciones memoriza el ruido (overfitting) y obsesiona con los outliers.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ENSEMBLES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Stacking: el panel de expertos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1945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2743200" y="150876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ard"/>
          <p:cNvSpPr/>
          <p:nvPr/>
        </p:nvSpPr>
        <p:spPr>
          <a:xfrm>
            <a:off x="457200" y="2103120"/>
            <a:ext cx="21945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Regresión logística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2743200" y="224028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457200" y="2834640"/>
            <a:ext cx="21945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KNN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2743200" y="29718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Nivel 0 · modelos base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3200400" y="1371600"/>
            <a:ext cx="1920240" cy="205740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00400" y="1371600"/>
            <a:ext cx="1920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Predicciones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 los base =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nuevas features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5212080" y="22860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card"/>
          <p:cNvSpPr/>
          <p:nvPr/>
        </p:nvSpPr>
        <p:spPr>
          <a:xfrm>
            <a:off x="5669280" y="1371600"/>
            <a:ext cx="1554480" cy="205740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69280" y="1371600"/>
            <a:ext cx="1554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Meta-modelo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(nivel 1)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7315200" y="2286000"/>
            <a:ext cx="32004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1" name="card"/>
          <p:cNvSpPr/>
          <p:nvPr/>
        </p:nvSpPr>
        <p:spPr>
          <a:xfrm>
            <a:off x="7726680" y="1371600"/>
            <a:ext cx="960120" cy="205740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26680" y="1371600"/>
            <a:ext cx="960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final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Ejemplo de regla aprendida: “cuando RF y KNN no coinciden, la logística suele tener razón”. Máxima precisión, a costo de complejidad.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ENSEMBLES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¿Cuál elegir?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286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Bagging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6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Stacking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C9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Entrenamiento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Paralelo (independiente)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Secuencial (dependiente)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Paralelo + meta-modelo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Objetivo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Reducir varianza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Reducir sesgo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Combinar fortalezas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Modelos 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Homogéneos (árboles)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Homogéneos (árboles)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Heterogéneos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Riesgo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Bajo de overfitting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Alto si no se controla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Complejo de mantener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313A"/>
                          </a:solidFill>
                        </a:rPr>
                        <a:t>Ejemplo clásico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XGBoost / AdaBoost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13A"/>
                          </a:solidFill>
                        </a:rPr>
                        <a:t>Blending de modelos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Modelo errático → Bagging · demasiado simple → Boosting · varios buenos modelos → Stacking. Con pocos datos, una logística simple puede ganar.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EVALUACIÓN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Matriz de confusión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Predice: Positivo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Predice: Negativo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6324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Negativo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1645920" y="1737360"/>
            <a:ext cx="2103120" cy="1234440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55648" y="182880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TP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Verdadero positivo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Dijo spam y era spam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840480" y="1737360"/>
            <a:ext cx="2103120" cy="1234440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50208" y="182880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FN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Falso negativo · Error tipo II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Dijo “no spam” y era phishing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1645920" y="3063240"/>
            <a:ext cx="2103120" cy="1234440"/>
          </a:xfrm>
          <a:prstGeom prst="roundRect">
            <a:avLst>
              <a:gd name="adj" fmla="val 5926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755648" y="315468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FP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Falso positivo · Error tipo I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Dijo spam y era un correo legítimo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840480" y="3063240"/>
            <a:ext cx="2103120" cy="1234440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50208" y="315468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TN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Verdadero negativo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Dijo “no spam” y era legítimo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263640" y="1737360"/>
            <a:ext cx="2423160" cy="256032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Los errores no cuestan igual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Una prueba médica que dice “sano” a alguien enfermo (FN) es mucho más grave que una falsa alarma (FP).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EVALUACIÓN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Precision, Recall y F1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40080" y="196596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60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los que predije positivos, ¿cuántos lo eran?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64408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47288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3447288" y="196596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47288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47288" y="2560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los realmente positivos, ¿cuántos atrapé?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071616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54496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6254496" y="196596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54496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 + R)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54496" y="2560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 armónica: premia el equilibrio entre ambas.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1" name="circle"/>
          <p:cNvSpPr/>
          <p:nvPr/>
        </p:nvSpPr>
        <p:spPr>
          <a:xfrm>
            <a:off x="640080" y="38130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0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3944722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71600" y="3611880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 trampa de la accuracy: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 solo 1 % de los casos es positivo, un modelo que dice siempre “negativo” acierta 99 % … y no detecta ningún positivo. Revisar siempre la matriz de confusión.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EVALUACIÓN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Curva ROC y AUC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486400" y="141732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card"/>
          <p:cNvSpPr/>
          <p:nvPr/>
        </p:nvSpPr>
        <p:spPr>
          <a:xfrm>
            <a:off x="5486400" y="141732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0" y="1417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0.5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Equivale a lanzar una moneda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486400" y="205740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card"/>
          <p:cNvSpPr/>
          <p:nvPr/>
        </p:nvSpPr>
        <p:spPr>
          <a:xfrm>
            <a:off x="5486400" y="205740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0" y="2057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0.7 – 0.8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Aceptable / bueno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0" y="269748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card"/>
          <p:cNvSpPr/>
          <p:nvPr/>
        </p:nvSpPr>
        <p:spPr>
          <a:xfrm>
            <a:off x="5486400" y="269748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0" y="26974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≥ 0.9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Excelente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0" y="333756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9" name="card"/>
          <p:cNvSpPr/>
          <p:nvPr/>
        </p:nvSpPr>
        <p:spPr>
          <a:xfrm>
            <a:off x="5486400" y="333756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486400" y="33375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1.0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62940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Separación perfecta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 diferencia del F1, el AUC no depende del umbral elegido.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EVALUACIÓN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error duele más?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572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303520" y="1371600"/>
            <a:ext cx="3383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7" name="circle"/>
          <p:cNvSpPr/>
          <p:nvPr/>
        </p:nvSpPr>
        <p:spPr>
          <a:xfrm>
            <a:off x="5440680" y="15270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932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Falso positivo caro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8932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Priorizar precision · subir el umbral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5303520" y="2176272"/>
            <a:ext cx="3383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11" name="circle"/>
          <p:cNvSpPr/>
          <p:nvPr/>
        </p:nvSpPr>
        <p:spPr>
          <a:xfrm>
            <a:off x="5440680" y="233172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89320" y="22494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Falso negativo caro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5237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Priorizar recall · bajar el umbral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5303520" y="2980944"/>
            <a:ext cx="3383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15" name="circle"/>
          <p:cNvSpPr/>
          <p:nvPr/>
        </p:nvSpPr>
        <p:spPr>
          <a:xfrm>
            <a:off x="5440680" y="3136392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98932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Necesito equilibrio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33284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Mirar F1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303520" y="3785616"/>
            <a:ext cx="3383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19" name="circle"/>
          <p:cNvSpPr/>
          <p:nvPr/>
        </p:nvSpPr>
        <p:spPr>
          <a:xfrm>
            <a:off x="5440680" y="3941064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98932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Comparar modelos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989320" y="4133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Usar AUC, independiente del umbral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· VALIDACIÓN Y AJUSTE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Validación cruzada K-Fold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Iter. 1</a:t>
            </a:r>
            <a:endParaRPr lang="en-US" sz="1200" dirty="0"/>
          </a:p>
        </p:txBody>
      </p:sp>
      <p:sp>
        <p:nvSpPr>
          <p:cNvPr id="6" name="validación"/>
          <p:cNvSpPr/>
          <p:nvPr/>
        </p:nvSpPr>
        <p:spPr>
          <a:xfrm>
            <a:off x="1234440" y="137160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34440" y="137160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</a:t>
            </a:r>
            <a:endParaRPr lang="en-US" sz="1100" dirty="0"/>
          </a:p>
        </p:txBody>
      </p:sp>
      <p:sp>
        <p:nvSpPr>
          <p:cNvPr id="8" name="entrenamiento"/>
          <p:cNvSpPr/>
          <p:nvPr/>
        </p:nvSpPr>
        <p:spPr>
          <a:xfrm>
            <a:off x="2002536" y="137160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002536" y="137160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10" name="entrenamiento"/>
          <p:cNvSpPr/>
          <p:nvPr/>
        </p:nvSpPr>
        <p:spPr>
          <a:xfrm>
            <a:off x="2770632" y="137160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70632" y="137160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12" name="entrenamiento"/>
          <p:cNvSpPr/>
          <p:nvPr/>
        </p:nvSpPr>
        <p:spPr>
          <a:xfrm>
            <a:off x="3538728" y="137160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38728" y="137160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14" name="entrenamiento"/>
          <p:cNvSpPr/>
          <p:nvPr/>
        </p:nvSpPr>
        <p:spPr>
          <a:xfrm>
            <a:off x="4306824" y="137160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06824" y="137160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Iter. 2</a:t>
            </a:r>
            <a:endParaRPr lang="en-US" sz="1200" dirty="0"/>
          </a:p>
        </p:txBody>
      </p:sp>
      <p:sp>
        <p:nvSpPr>
          <p:cNvPr id="17" name="entrenamiento"/>
          <p:cNvSpPr/>
          <p:nvPr/>
        </p:nvSpPr>
        <p:spPr>
          <a:xfrm>
            <a:off x="1234440" y="192024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234440" y="1920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19" name="validación"/>
          <p:cNvSpPr/>
          <p:nvPr/>
        </p:nvSpPr>
        <p:spPr>
          <a:xfrm>
            <a:off x="2002536" y="192024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002536" y="1920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</a:t>
            </a:r>
            <a:endParaRPr lang="en-US" sz="1100" dirty="0"/>
          </a:p>
        </p:txBody>
      </p:sp>
      <p:sp>
        <p:nvSpPr>
          <p:cNvPr id="21" name="entrenamiento"/>
          <p:cNvSpPr/>
          <p:nvPr/>
        </p:nvSpPr>
        <p:spPr>
          <a:xfrm>
            <a:off x="2770632" y="192024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770632" y="1920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23" name="entrenamiento"/>
          <p:cNvSpPr/>
          <p:nvPr/>
        </p:nvSpPr>
        <p:spPr>
          <a:xfrm>
            <a:off x="3538728" y="192024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538728" y="1920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25" name="entrenamiento"/>
          <p:cNvSpPr/>
          <p:nvPr/>
        </p:nvSpPr>
        <p:spPr>
          <a:xfrm>
            <a:off x="4306824" y="192024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306824" y="1920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Iter. 3</a:t>
            </a:r>
            <a:endParaRPr lang="en-US" sz="1200" dirty="0"/>
          </a:p>
        </p:txBody>
      </p:sp>
      <p:sp>
        <p:nvSpPr>
          <p:cNvPr id="28" name="entrenamiento"/>
          <p:cNvSpPr/>
          <p:nvPr/>
        </p:nvSpPr>
        <p:spPr>
          <a:xfrm>
            <a:off x="1234440" y="246888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234440" y="246888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30" name="entrenamiento"/>
          <p:cNvSpPr/>
          <p:nvPr/>
        </p:nvSpPr>
        <p:spPr>
          <a:xfrm>
            <a:off x="2002536" y="246888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002536" y="246888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32" name="validación"/>
          <p:cNvSpPr/>
          <p:nvPr/>
        </p:nvSpPr>
        <p:spPr>
          <a:xfrm>
            <a:off x="2770632" y="246888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770632" y="246888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</a:t>
            </a:r>
            <a:endParaRPr lang="en-US" sz="1100" dirty="0"/>
          </a:p>
        </p:txBody>
      </p:sp>
      <p:sp>
        <p:nvSpPr>
          <p:cNvPr id="34" name="entrenamiento"/>
          <p:cNvSpPr/>
          <p:nvPr/>
        </p:nvSpPr>
        <p:spPr>
          <a:xfrm>
            <a:off x="3538728" y="246888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538728" y="246888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36" name="entrenamiento"/>
          <p:cNvSpPr/>
          <p:nvPr/>
        </p:nvSpPr>
        <p:spPr>
          <a:xfrm>
            <a:off x="4306824" y="246888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306824" y="246888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3017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Iter. 4</a:t>
            </a:r>
            <a:endParaRPr lang="en-US" sz="1200" dirty="0"/>
          </a:p>
        </p:txBody>
      </p:sp>
      <p:sp>
        <p:nvSpPr>
          <p:cNvPr id="39" name="entrenamiento"/>
          <p:cNvSpPr/>
          <p:nvPr/>
        </p:nvSpPr>
        <p:spPr>
          <a:xfrm>
            <a:off x="1234440" y="301752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234440" y="30175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41" name="entrenamiento"/>
          <p:cNvSpPr/>
          <p:nvPr/>
        </p:nvSpPr>
        <p:spPr>
          <a:xfrm>
            <a:off x="2002536" y="301752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02536" y="30175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43" name="entrenamiento"/>
          <p:cNvSpPr/>
          <p:nvPr/>
        </p:nvSpPr>
        <p:spPr>
          <a:xfrm>
            <a:off x="2770632" y="301752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770632" y="30175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45" name="validación"/>
          <p:cNvSpPr/>
          <p:nvPr/>
        </p:nvSpPr>
        <p:spPr>
          <a:xfrm>
            <a:off x="3538728" y="301752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38728" y="30175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</a:t>
            </a:r>
            <a:endParaRPr lang="en-US" sz="1100" dirty="0"/>
          </a:p>
        </p:txBody>
      </p:sp>
      <p:sp>
        <p:nvSpPr>
          <p:cNvPr id="47" name="entrenamiento"/>
          <p:cNvSpPr/>
          <p:nvPr/>
        </p:nvSpPr>
        <p:spPr>
          <a:xfrm>
            <a:off x="4306824" y="301752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306824" y="30175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Iter. 5</a:t>
            </a:r>
            <a:endParaRPr lang="en-US" sz="1200" dirty="0"/>
          </a:p>
        </p:txBody>
      </p:sp>
      <p:sp>
        <p:nvSpPr>
          <p:cNvPr id="50" name="entrenamiento"/>
          <p:cNvSpPr/>
          <p:nvPr/>
        </p:nvSpPr>
        <p:spPr>
          <a:xfrm>
            <a:off x="1234440" y="356616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234440" y="356616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52" name="entrenamiento"/>
          <p:cNvSpPr/>
          <p:nvPr/>
        </p:nvSpPr>
        <p:spPr>
          <a:xfrm>
            <a:off x="2002536" y="356616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2002536" y="356616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54" name="entrenamiento"/>
          <p:cNvSpPr/>
          <p:nvPr/>
        </p:nvSpPr>
        <p:spPr>
          <a:xfrm>
            <a:off x="2770632" y="356616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770632" y="356616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56" name="entrenamiento"/>
          <p:cNvSpPr/>
          <p:nvPr/>
        </p:nvSpPr>
        <p:spPr>
          <a:xfrm>
            <a:off x="3538728" y="356616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538728" y="356616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Train</a:t>
            </a:r>
            <a:endParaRPr lang="en-US" sz="1100" dirty="0"/>
          </a:p>
        </p:txBody>
      </p:sp>
      <p:sp>
        <p:nvSpPr>
          <p:cNvPr id="58" name="validación"/>
          <p:cNvSpPr/>
          <p:nvPr/>
        </p:nvSpPr>
        <p:spPr>
          <a:xfrm>
            <a:off x="4306824" y="3566160"/>
            <a:ext cx="713232" cy="4114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306824" y="356616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45720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K = 5: el dataset se parte en 5 pliegues (folds); cada uno es validación una vez.</a:t>
            </a:r>
            <a:endParaRPr lang="en-US" sz="1200" dirty="0"/>
          </a:p>
        </p:txBody>
      </p:sp>
      <p:sp>
        <p:nvSpPr>
          <p:cNvPr id="61" name="card"/>
          <p:cNvSpPr/>
          <p:nvPr/>
        </p:nvSpPr>
        <p:spPr>
          <a:xfrm>
            <a:off x="5852160" y="1371600"/>
            <a:ext cx="2834640" cy="320040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035040" y="1508760"/>
            <a:ext cx="2514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Resultado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métricas → promedio ± desviación estándar.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Promedio de 0.85 con folds de 0.99 y 0.40 = modelo inestable.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Ideal: promedio alto y desvío bajo.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· VALIDACIÓN Y AJUSTE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Variantes y buenas prácticas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6" name="circle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Layer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404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Stratified K-Fold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fold conserva la proporción de clases. Imprescindible con clases desbalanceadas.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64408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1" name="circle"/>
          <p:cNvSpPr/>
          <p:nvPr/>
        </p:nvSpPr>
        <p:spPr>
          <a:xfrm>
            <a:off x="3447288" y="1508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FaRe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962" y="16404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47288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Leave-One-Out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447288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 = n. Solo con muy pocos datos: es carísimo computacionalmente.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071616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6" name="circle"/>
          <p:cNvSpPr/>
          <p:nvPr/>
        </p:nvSpPr>
        <p:spPr>
          <a:xfrm>
            <a:off x="6254496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70" y="16404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54496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Hold-out final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254496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20 % en el “cofre”; CV sobre el 80 %; se abre el cofre una sola vez.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31520" y="3703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Error frecuente: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creer que la validación cruzada entrena el modelo final. Se usa para decidir; después se reentrena con todo el train.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· VALIDACIÓN Y AJUSTE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Hiperparámetros y GridSearchCV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Parámetros: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aprende el modelo (los β de una regresión).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6B00"/>
                </a:solidFill>
              </a:rPr>
              <a:t>Hiperparámetros: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perillas que fijamos antes: nº de árboles, profundidad.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{n_estimators:[10,50], max_depth:[2,5]}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457200" y="2743200"/>
            <a:ext cx="128016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743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 · 2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1828800" y="2743200"/>
            <a:ext cx="12801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28800" y="2743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 · 5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457200" y="3611880"/>
            <a:ext cx="12801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6118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· 2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1828800" y="3611880"/>
            <a:ext cx="128016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28800" y="36118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· 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33756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 combinaciones × K folds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937760" y="2377440"/>
            <a:ext cx="374904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20640" y="2487168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Atributos tras .fit()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best_params_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combinación ganadora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best_score_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promedio de la métrica en CV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best_estimator_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modelo final ya reentrenado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· VALIDACIÓN Y AJUSTE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Flujo de trabajo completo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457200" y="1463040"/>
            <a:ext cx="1508760" cy="22860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circle"/>
          <p:cNvSpPr/>
          <p:nvPr/>
        </p:nvSpPr>
        <p:spPr>
          <a:xfrm>
            <a:off x="914400" y="16276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Th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770278"/>
            <a:ext cx="309067" cy="309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· Partición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(stratify=y)</a:t>
            </a:r>
            <a:endParaRPr lang="en-US" sz="1000" dirty="0"/>
          </a:p>
        </p:txBody>
      </p:sp>
      <p:sp>
        <p:nvSpPr>
          <p:cNvPr id="10" name="arrow"/>
          <p:cNvSpPr/>
          <p:nvPr/>
        </p:nvSpPr>
        <p:spPr>
          <a:xfrm>
            <a:off x="1975104" y="2468880"/>
            <a:ext cx="164592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card"/>
          <p:cNvSpPr/>
          <p:nvPr/>
        </p:nvSpPr>
        <p:spPr>
          <a:xfrm>
            <a:off x="2148840" y="1463040"/>
            <a:ext cx="1508760" cy="22860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2" name="circle"/>
          <p:cNvSpPr/>
          <p:nvPr/>
        </p:nvSpPr>
        <p:spPr>
          <a:xfrm>
            <a:off x="2606040" y="16276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86" y="1770278"/>
            <a:ext cx="309067" cy="30906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028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· Preproceso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24028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imputar + escalar</a:t>
            </a:r>
            <a:endParaRPr lang="en-US" sz="1000" dirty="0"/>
          </a:p>
        </p:txBody>
      </p:sp>
      <p:sp>
        <p:nvSpPr>
          <p:cNvPr id="16" name="arrow"/>
          <p:cNvSpPr/>
          <p:nvPr/>
        </p:nvSpPr>
        <p:spPr>
          <a:xfrm>
            <a:off x="3666744" y="2468880"/>
            <a:ext cx="164592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card"/>
          <p:cNvSpPr/>
          <p:nvPr/>
        </p:nvSpPr>
        <p:spPr>
          <a:xfrm>
            <a:off x="3840480" y="1463040"/>
            <a:ext cx="1508760" cy="22860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8" name="circle"/>
          <p:cNvSpPr/>
          <p:nvPr/>
        </p:nvSpPr>
        <p:spPr>
          <a:xfrm>
            <a:off x="4297680" y="16276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FaRe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1770278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93192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· Comparar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393192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endParaRPr lang="en-US" sz="1000" dirty="0"/>
          </a:p>
        </p:txBody>
      </p:sp>
      <p:sp>
        <p:nvSpPr>
          <p:cNvPr id="22" name="arrow"/>
          <p:cNvSpPr/>
          <p:nvPr/>
        </p:nvSpPr>
        <p:spPr>
          <a:xfrm>
            <a:off x="5358384" y="2468880"/>
            <a:ext cx="164592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card"/>
          <p:cNvSpPr/>
          <p:nvPr/>
        </p:nvSpPr>
        <p:spPr>
          <a:xfrm>
            <a:off x="5532120" y="1463040"/>
            <a:ext cx="1508760" cy="22860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4" name="circle"/>
          <p:cNvSpPr/>
          <p:nvPr/>
        </p:nvSpPr>
        <p:spPr>
          <a:xfrm>
            <a:off x="5989320" y="16276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3" descr="FaSlider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966" y="1770278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2356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· Ajustar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62356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best_estimator_</a:t>
            </a:r>
            <a:endParaRPr lang="en-US" sz="1000" dirty="0"/>
          </a:p>
        </p:txBody>
      </p:sp>
      <p:sp>
        <p:nvSpPr>
          <p:cNvPr id="28" name="arrow"/>
          <p:cNvSpPr/>
          <p:nvPr/>
        </p:nvSpPr>
        <p:spPr>
          <a:xfrm>
            <a:off x="7050024" y="2468880"/>
            <a:ext cx="164592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9" name="card"/>
          <p:cNvSpPr/>
          <p:nvPr/>
        </p:nvSpPr>
        <p:spPr>
          <a:xfrm>
            <a:off x="7223760" y="1463040"/>
            <a:ext cx="1508760" cy="22860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0" name="circle"/>
          <p:cNvSpPr/>
          <p:nvPr/>
        </p:nvSpPr>
        <p:spPr>
          <a:xfrm>
            <a:off x="7680960" y="1627632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4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06" y="1770278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· Test final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sola vez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 final</a:t>
            </a:r>
            <a:endParaRPr lang="en-US" sz="1000" dirty="0"/>
          </a:p>
        </p:txBody>
      </p:sp>
      <p:sp>
        <p:nvSpPr>
          <p:cNvPr id="34" name="card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Regla de oro: el conjunto de test se abre una sola vez, al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PRÁCTICA · EJEMPLO 1 (DOCENTE)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Demo: bicicletas compartidas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°C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humedad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% (25 faltantes)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km/h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lluvia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hora_pico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fin_de_semana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alquileres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y regresión: alquileres/hora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alta_demanda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y clasificación: 1 = top 30 %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029200" y="1325880"/>
            <a:ext cx="3657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212080" y="1435608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Notebook · datos sintéticos (datasets/bicicletas.csv)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EDA y valores faltantes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Regresión lineal: coeficientes, MAE, RMSE, R²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Gradiente descendente a mano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Logística: sigmoide, umbral, ROC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Ensembles, CV y GridSearchCV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029200" y="361188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212080" y="361188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Esperable: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R² ≈ 0.75 · AUC ≈ 0.97 · accuracy ≈ 0.94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PRÁCTICA · EJEMPLO 2 (ALUMNOS)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Práctica: pacientes y diabetes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8745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 · imc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años · índice de masa corporal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glucosa_ayunas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mg/dL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presion_sistolica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mmHg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colesterol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mg/dL (40 faltantes)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actividad_fisica_hs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horas por semana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antecedentes_familiares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fumador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hba1c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y regresión: % HbA1c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1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diabetes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y clasificación: 1 ≈ 17 %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029200" y="1325880"/>
            <a:ext cx="3657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212080" y="1435608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Consignas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Completar los ____ y los TODO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Predecir HbA1c e interpretar coeficientes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Clasificar diabetes y probar umbrales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Comparar ensembles con CV y GridSearch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029200" y="352044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BE0D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212080" y="35204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A"/>
                </a:solidFill>
              </a:rPr>
              <a:t>Atención: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clases desbalanceadas. ¿Alcanza con la accuracy? ¿Qué error es más caro?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SÍNTESIS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 que nos llevamos</a:t>
            </a:r>
            <a:endParaRPr lang="en-US" sz="4000" dirty="0"/>
          </a:p>
        </p:txBody>
      </p:sp>
      <p:sp>
        <p:nvSpPr>
          <p:cNvPr id="4" name="circle"/>
          <p:cNvSpPr/>
          <p:nvPr/>
        </p:nvSpPr>
        <p:spPr>
          <a:xfrm>
            <a:off x="640080" y="26060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87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 variable dependiente decide el modelo: número → lineal, categoría → logística.</a:t>
            </a:r>
            <a:endParaRPr lang="en-US" sz="1300" dirty="0"/>
          </a:p>
        </p:txBody>
      </p:sp>
      <p:sp>
        <p:nvSpPr>
          <p:cNvPr id="7" name="circle"/>
          <p:cNvSpPr/>
          <p:nvPr/>
        </p:nvSpPr>
        <p:spPr>
          <a:xfrm>
            <a:off x="640080" y="30632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Aprender es minimizar una pérdida (MSE o Log Loss) con descenso del gradiente.</a:t>
            </a:r>
            <a:endParaRPr lang="en-US" sz="1300" dirty="0"/>
          </a:p>
        </p:txBody>
      </p:sp>
      <p:sp>
        <p:nvSpPr>
          <p:cNvPr id="10" name="circle"/>
          <p:cNvSpPr/>
          <p:nvPr/>
        </p:nvSpPr>
        <p:spPr>
          <a:xfrm>
            <a:off x="640080" y="35204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02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Ensembles: bagging baja varianza, boosting baja sesgo, stacking combina familias.</a:t>
            </a:r>
            <a:endParaRPr lang="en-US" sz="1300" dirty="0"/>
          </a:p>
        </p:txBody>
      </p:sp>
      <p:sp>
        <p:nvSpPr>
          <p:cNvPr id="13" name="circle"/>
          <p:cNvSpPr/>
          <p:nvPr/>
        </p:nvSpPr>
        <p:spPr>
          <a:xfrm>
            <a:off x="640080" y="39776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59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Accuracy no alcanza: matriz de confusión, precision, recall, F1 y AUC.</a:t>
            </a:r>
            <a:endParaRPr lang="en-US" sz="1300" dirty="0"/>
          </a:p>
        </p:txBody>
      </p:sp>
      <p:sp>
        <p:nvSpPr>
          <p:cNvPr id="16" name="circle"/>
          <p:cNvSpPr/>
          <p:nvPr/>
        </p:nvSpPr>
        <p:spPr>
          <a:xfrm>
            <a:off x="640080" y="44348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165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Validación cruzada + GridSearchCV; el test se abre una sola vez.</a:t>
            </a:r>
            <a:endParaRPr lang="en-US" sz="13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640080" y="2834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oratorio de Modelado">
  <a:themeElements>
    <a:clrScheme name="Laboratorio de Modelado">
      <a:dk1>
        <a:srgbClr val="17313A"/>
      </a:dk1>
      <a:lt1>
        <a:srgbClr val="FFFFFF"/>
      </a:lt1>
      <a:dk2>
        <a:srgbClr val="0B3C49"/>
      </a:dk2>
      <a:lt2>
        <a:srgbClr val="E8F3F3"/>
      </a:lt2>
      <a:accent1>
        <a:srgbClr val="1F8A8A"/>
      </a:accent1>
      <a:accent2>
        <a:srgbClr val="F2A541"/>
      </a:accent2>
      <a:accent3>
        <a:srgbClr val="E4572E"/>
      </a:accent3>
      <a:accent4>
        <a:srgbClr val="5B7C99"/>
      </a:accent4>
      <a:accent5>
        <a:srgbClr val="6FA37A"/>
      </a:accent5>
      <a:accent6>
        <a:srgbClr val="8E6C9E"/>
      </a:accent6>
      <a:hlink>
        <a:srgbClr val="1F8A8A"/>
      </a:hlink>
      <a:folHlink>
        <a:srgbClr val="5B7C99"/>
      </a:folHlink>
    </a:clrScheme>
    <a:fontScheme name="Laboratorio de Model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Regresión lineal y logística · Laboratorio de Modelado</dc:title>
  <dc:subject>PptxGenJS Presentation</dc:subject>
  <dc:creator>Laboratorio de Modelado</dc:creator>
  <cp:lastModifiedBy>Laboratorio de Modelado</cp:lastModifiedBy>
  <cp:revision>1</cp:revision>
  <dcterms:created xsi:type="dcterms:W3CDTF">2026-10-20T11:52:53Z</dcterms:created>
  <dcterms:modified xsi:type="dcterms:W3CDTF">2026-10-20T11:52:53Z</dcterms:modified>
</cp:coreProperties>
</file>