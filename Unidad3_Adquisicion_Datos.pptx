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YB9iviGBdVxOTyhNeeqxZ7/++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DC4560-2FEC-4366-AE25-F8B9C59B3CAF}">
  <a:tblStyle styleId="{F7DC4560-2FEC-4366-AE25-F8B9C59B3C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Unidad 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1005840"/>
            <a:ext cx="8321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Adquisición de Datos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26060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Fundamentos, formatos, APIs y pipelines reproducibles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Duración: 1 h 15 min  •  Teoría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 de la clase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74320" y="731520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274320" y="731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914400" y="768096"/>
            <a:ext cx="6583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Fundamentos y tipos de datos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680960" y="768096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274320" y="1408176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74320" y="14081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14400" y="1444752"/>
            <a:ext cx="6583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Formatos tabulares: CSV, Excel, Parquet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680960" y="1444752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4320" y="2084832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2084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2121408"/>
            <a:ext cx="6583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APIs REST: auth, paginación, rate limits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680960" y="212140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74320" y="2761488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74320" y="27614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14400" y="2798064"/>
            <a:ext cx="6583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Consumir APIs con requests y .env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680960" y="2798064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3438144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74320" y="34381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4400" y="3474720"/>
            <a:ext cx="6583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Repositorio y notebook reproducible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680960" y="347472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4320" y="4114800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4320" y="4114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14400" y="4151376"/>
            <a:ext cx="6583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Pipelines y control de calidad mínimo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680960" y="4151376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54864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600"/>
              <a:buFont typeface="Calibri"/>
              <a:buNone/>
            </a:pPr>
            <a:r>
              <a:rPr b="1" lang="en-US" sz="96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Fundamentos y Tipos de Datos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 la adquisición de datos?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65760" y="685800"/>
            <a:ext cx="8412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Proceso de obtener datos desde diversas fuentes (APIs, archivos, bases de datos) y prepararlos para su uso en análisis.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 la etapa inicial y crítica del ciclo de vida analítico.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 datos adecuados y bien obtenidos, cualquier análisis carece de fundamento.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Define el problema → Adquisición → Limpieza → Análisis → Modelado → Comunicación.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Ciclo de vida analítico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74320" y="1645920"/>
            <a:ext cx="1554480" cy="155448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74320" y="164592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5"/>
          <p:cNvCxnSpPr/>
          <p:nvPr/>
        </p:nvCxnSpPr>
        <p:spPr>
          <a:xfrm>
            <a:off x="1828800" y="242316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5"/>
          <p:cNvSpPr/>
          <p:nvPr/>
        </p:nvSpPr>
        <p:spPr>
          <a:xfrm>
            <a:off x="1993392" y="1645920"/>
            <a:ext cx="1554480" cy="15544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993392" y="164592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Adquisición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5"/>
          <p:cNvCxnSpPr/>
          <p:nvPr/>
        </p:nvCxnSpPr>
        <p:spPr>
          <a:xfrm>
            <a:off x="3547872" y="242316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5"/>
          <p:cNvSpPr/>
          <p:nvPr/>
        </p:nvSpPr>
        <p:spPr>
          <a:xfrm>
            <a:off x="3712464" y="1645920"/>
            <a:ext cx="1554480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712464" y="164592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Limpieza 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5"/>
          <p:cNvCxnSpPr/>
          <p:nvPr/>
        </p:nvCxnSpPr>
        <p:spPr>
          <a:xfrm>
            <a:off x="5266944" y="242316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5"/>
          <p:cNvSpPr/>
          <p:nvPr/>
        </p:nvSpPr>
        <p:spPr>
          <a:xfrm>
            <a:off x="5431536" y="1645920"/>
            <a:ext cx="1554480" cy="155448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431536" y="164592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5"/>
          <p:cNvCxnSpPr/>
          <p:nvPr/>
        </p:nvCxnSpPr>
        <p:spPr>
          <a:xfrm>
            <a:off x="6986016" y="242316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5"/>
          <p:cNvSpPr/>
          <p:nvPr/>
        </p:nvSpPr>
        <p:spPr>
          <a:xfrm>
            <a:off x="7150608" y="1645920"/>
            <a:ext cx="1554480" cy="15544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150608" y="164592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Comunicar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adquisición de datos conecta el problema de negocio con la información necesaria para resolverlo.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1993391" y="778269"/>
            <a:ext cx="4833435" cy="46166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b="1" i="0" lang="en-US" sz="2400" u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GIGO: Garbage In, Garbage Out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Clasificación de tipos de datos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" name="Google Shape;95;p6"/>
          <p:cNvGraphicFramePr/>
          <p:nvPr/>
        </p:nvGraphicFramePr>
        <p:xfrm>
          <a:off x="27432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{F7DC4560-2FEC-4366-AE25-F8B9C59B3CAF}</a:tableStyleId>
              </a:tblPr>
              <a:tblGrid>
                <a:gridCol w="2865125"/>
                <a:gridCol w="2865125"/>
                <a:gridCol w="2865125"/>
              </a:tblGrid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Estructurados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Organizados en tablas con esquema fijo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Bases SQL, CSV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Semi-estructurados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flexible, etiquetas o claves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JSON, XML, logs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estructurados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 formato predefinido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Texto libre, imágenes, audio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Vectoriales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Representación numérica para ML y búsquedas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9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Embeddings de texto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Fuentes y arquitecturas de almacenamiento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74320" y="685800"/>
            <a:ext cx="40233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274320" y="685800"/>
            <a:ext cx="40233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65760" y="71323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Repositorios públicos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65760" y="1115568"/>
            <a:ext cx="37490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Kaggle – competiciones y datasets variados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UCI ML Repository – clásicos de Machine Learning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World Bank Data – indicadores económicos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Data.gov – datos abiertos del gobierno de EE.UU.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572000" y="685800"/>
            <a:ext cx="42976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572000" y="685800"/>
            <a:ext cx="42976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663440" y="71323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Arquitecturas modernas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663440" y="1115568"/>
            <a:ext cx="40233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Lakes – almacenamiento masivo sin esquema rígido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Lakehouses – combinan Data Lake + Data Warehouse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Contracts – acuerdos formales de esquema y calidad entre equipos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57200" y="54864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600"/>
              <a:buFont typeface="Calibri"/>
              <a:buNone/>
            </a:pPr>
            <a:r>
              <a:rPr b="1" lang="en-US" sz="96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Formatos Tabulares: CSV, Excel y Parquet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tres grandes formatos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320040" y="685800"/>
            <a:ext cx="265176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320040" y="685800"/>
            <a:ext cx="265176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11480" y="713232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11480" y="1216152"/>
            <a:ext cx="246888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Texto plano, un registro por línea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Delimitador: coma, punto y coma o tabulación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Encoding: generalmente UTF-8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Máxima portabilidad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✗ Sin tipos complejos ni compresión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3200400" y="685800"/>
            <a:ext cx="265176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3200400" y="685800"/>
            <a:ext cx="26517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3291840" y="713232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(.xlsx)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3291840" y="1216152"/>
            <a:ext cx="246888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Formato XML comprimido o binario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Múltiples hojas, fórmulas y gráficos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Muy popular en entornos empresariales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Riqueza de formato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✗ Mayor tamaño, menor velocidad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080760" y="685800"/>
            <a:ext cx="265176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6080760" y="685800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172200" y="713232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Parquet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172200" y="1216152"/>
            <a:ext cx="246888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Formato columnar binario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Compresión eficiente (snappy, gzip)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Soporta tipos complejos y datos anidados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✔ Ideal para Big Data / Spark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Char char="•"/>
            </a:pPr>
            <a:r>
              <a:rPr lang="en-US" sz="16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✗ Requiere librerías especiales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Comparativa técnica: CSV vs Excel vs Parquet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0"/>
          <p:cNvGraphicFramePr/>
          <p:nvPr/>
        </p:nvGraphicFramePr>
        <p:xfrm>
          <a:off x="27432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{F7DC4560-2FEC-4366-AE25-F8B9C59B3CAF}</a:tableStyleId>
              </a:tblPr>
              <a:tblGrid>
                <a:gridCol w="2148850"/>
                <a:gridCol w="2148850"/>
                <a:gridCol w="2148850"/>
                <a:gridCol w="2148850"/>
              </a:tblGrid>
              <a:tr h="58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Característica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CSV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 (.xlsx)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Parquet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Formato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Texto plano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Binario / XML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Columnar binario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Tipos de datos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Texto simple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Básicos + fórmulas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Complejos + anidados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Tamaño archivo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Mediano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Pequeño (comprimido)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Velocidad lectura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Lenta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Rápida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Portabilidad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Muy alta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 (Big Data)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Uso típico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Intercambio simple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y reportes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Almacenamiento a escala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¿Cuándo usar cada formato?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365760" y="685800"/>
            <a:ext cx="8412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CSV → intercambio entre sistemas, datos pequeños, máxima compatibilidad.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Excel → reportes empresariales con múltiples hojas, fórmulas o visualizaciones.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Parquet → almacenamiento y consultas sobre grandes volúmenes de datos (pipelines ETL, Spark, Dask).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⚠ La elección del formato impacta directamente en la eficiencia de tus pipelines y la calidad del análisis posterior.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Python: pandas + pyarrow para Parquet, openpyxl para Excel.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457200" y="54864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600"/>
              <a:buFont typeface="Calibri"/>
              <a:buNone/>
            </a:pPr>
            <a:r>
              <a:rPr b="1" lang="en-US" sz="96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 REST: Autenticación, Paginación y Rate Limits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 una API REST?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365760" y="685800"/>
            <a:ext cx="8412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500"/>
              <a:buFont typeface="Calibri"/>
              <a:buChar char="•"/>
            </a:pPr>
            <a:r>
              <a:rPr lang="en-US" sz="2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Application Programming Interface + Representational State Transfer.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500"/>
              <a:buFont typeface="Calibri"/>
              <a:buChar char="•"/>
            </a:pPr>
            <a:r>
              <a:rPr lang="en-US" sz="2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Permite la comunicación entre sistemas a través de HTTP.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500"/>
              <a:buFont typeface="Calibri"/>
              <a:buChar char="•"/>
            </a:pPr>
            <a:r>
              <a:rPr lang="en-US" sz="2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Fuente clave para adquisición de datos en tiempo real o actualizados.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500"/>
              <a:buFont typeface="Calibri"/>
              <a:buChar char="•"/>
            </a:pPr>
            <a:r>
              <a:rPr lang="en-US" sz="2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Métodos principales: GET (obtener datos), POST (enviar datos).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500"/>
              <a:buFont typeface="Calibri"/>
              <a:buChar char="•"/>
            </a:pPr>
            <a:r>
              <a:rPr lang="en-US" sz="2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Respuesta habitual: JSON o CSV.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Autenticación en APIs REST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274320" y="685800"/>
            <a:ext cx="40233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274320" y="685800"/>
            <a:ext cx="40233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365760" y="71323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Tipos de autenticación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365760" y="1115568"/>
            <a:ext cx="37490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Keys – claves simples enviadas en headers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Bearer Tokens – cadenas alfanuméricas en el header Authorization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OAuth 2.0 – protocolo estándar, acceso delegado sin compartir contraseñas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Ejemplo industrial: Twitter / X usa OAuth 2.0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4572000" y="685800"/>
            <a:ext cx="42976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4572000" y="685800"/>
            <a:ext cx="42976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4663440" y="71323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Buenas prácticas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4663440" y="1115568"/>
            <a:ext cx="40233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Nunca incluir credenciales en el código fuente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Almacenar en variables de entorno (.env)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Excluir archivos .env del repositorio (.gitignore)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Usar servicios como AWS Secrets Manager en producción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Técnicas de paginación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274320" y="685800"/>
            <a:ext cx="402336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274320" y="685800"/>
            <a:ext cx="402336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365760" y="71323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Paginación por Offset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365760" y="1152144"/>
            <a:ext cx="37490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Especifica número de página o desplazamiento (offset) más un límite.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onsolas"/>
              <a:buNone/>
            </a:pPr>
            <a:r>
              <a:rPr lang="en-US" sz="18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GET /items?offset=20&amp;limit=10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Devuelve 10 ítems a partir del ítem 21.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Sencillo pero ineficiente con datos que cambian en tiempo real.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4572000" y="685800"/>
            <a:ext cx="42976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4572000" y="685800"/>
            <a:ext cx="4297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4663440" y="713232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Paginación por Cursor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4663440" y="1152144"/>
            <a:ext cx="4114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Usa un identificador único (cursor) para marcar posición en la lista.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onsolas"/>
              <a:buNone/>
            </a:pPr>
            <a:r>
              <a:rPr lang="en-US" sz="18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GET /items?cursor=abc123&amp;limit=10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Devuelve los siguientes 10 ítems después del cursor.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Más eficiente para datos dinámicos o en tiempo real.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Rate Limits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365760" y="685800"/>
            <a:ext cx="8412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alibri"/>
              <a:buChar char="•"/>
            </a:pPr>
            <a:r>
              <a:rPr lang="en-US" sz="2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Las APIs limitan la cantidad de solicitudes por período para evitar sobrecarga.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alibri"/>
              <a:buChar char="•"/>
            </a:pPr>
            <a:r>
              <a:rPr lang="en-US" sz="2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HTTP 429 Too Many Requests → límite alcanzado.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alibri"/>
              <a:buChar char="•"/>
            </a:pPr>
            <a:r>
              <a:rPr lang="en-US" sz="2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Estrategia 1 – Retries con backoff exponencial: esperar tiempos crecientes (1s, 2s, 4s, 8s…) antes de reintentar.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alibri"/>
              <a:buChar char="•"/>
            </a:pPr>
            <a:r>
              <a:rPr lang="en-US" sz="2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Estrategia 2 – Monitoreo de headers: muchas APIs informan solicitudes restantes en los encabezados HTTP.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alibri"/>
              <a:buChar char="•"/>
            </a:pPr>
            <a:r>
              <a:rPr lang="en-US" sz="2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⚠ Implementar estas estrategias es clave para mantener la estabilidad de los pipelines de datos.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457200" y="54864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600"/>
              <a:buFont typeface="Calibri"/>
              <a:buNone/>
            </a:pPr>
            <a:r>
              <a:rPr b="1" lang="en-US" sz="96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Consumir APIs con requests y .env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librería requests en Python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365760" y="685800"/>
            <a:ext cx="8412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Estándar de facto para hacer llamadas HTTP en Python.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response.status_code → código HTTP (200, 404, 429…)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response.json() → convierte la respuesta JSON en diccionario Python.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Parámetros de consulta se pasan como dict con el argumento params={}.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Headers de autenticación se envían con headers={'Authorization': 'Bearer TOKEN'}.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Patrones esenciales con requests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274320" y="685800"/>
            <a:ext cx="27889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274320" y="685800"/>
            <a:ext cx="278892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347472" y="71323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1. Paginación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365760" y="1143000"/>
            <a:ext cx="2606040" cy="3520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438912" y="1207008"/>
            <a:ext cx="2468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7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while True: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7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r = requests.get(url, params=params)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7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if not r.json()['items']: break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7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page += 1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3182112" y="685800"/>
            <a:ext cx="27889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3182112" y="685800"/>
            <a:ext cx="278892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255264" y="71323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Backoff exponencial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3273552" y="1143000"/>
            <a:ext cx="2606040" cy="3520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3346704" y="1207008"/>
            <a:ext cx="2468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6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for attempt in range(max_retries):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6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if r.status_code == 200: return r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6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elif r.status_code in [429,500]: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6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time.sleep(delay); delay *= 2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6089904" y="685800"/>
            <a:ext cx="27889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6089904" y="685800"/>
            <a:ext cx="27889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6163056" y="71323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Credenciales seguras (.env)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6181344" y="1143000"/>
            <a:ext cx="2606040" cy="3520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6254496" y="1207008"/>
            <a:ext cx="2468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6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Archivo .env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6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API_KEY=tu_api_key_aqui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6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En Python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6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load_dotenv()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65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key = os.getenv('API_KEY')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57200" y="54864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600"/>
              <a:buFont typeface="Calibri"/>
              <a:buNone/>
            </a:pPr>
            <a:r>
              <a:rPr b="1" lang="en-US" sz="96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Repositorio y Notebook Reproducible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 qué importa la reproducibilidad?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365760" y="685800"/>
            <a:ext cx="8412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 proyecto reproducible permite que cualquier colega clone el repositorio y obtenga los mismos resultados.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 clave para la colaboración, auditoría y mantenimiento a largo plazo.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Plataformas como GitHub/GitLab requieren repositorios bien organizados.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industria exige pipelines que soporten integración continua (CI/CD).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 de repositorio recomendada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274320" y="640080"/>
            <a:ext cx="8595360" cy="4251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57200" y="749808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project-root/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685800" y="108813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├── README.md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572000" y="108813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Documentación general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85800" y="1426464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├── requirements.txt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572000" y="1426464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Dependencias del proyecto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685800" y="176479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├── .gitignore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4572000" y="176479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Archivos a ignorar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685800" y="2103120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├── notebooks/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4572000" y="2103120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Notebooks organizados por etapa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914400" y="2441448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│   ├── 01_data_ingestion.ipynb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914400" y="277977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│   └── 02_data_cleaning.ipynb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685800" y="3118104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├── scripts/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572000" y="3118104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Scripts Python reutilizables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914400" y="345643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│   └── utils.py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685800" y="3794760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├── data/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572000" y="3794760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Solo ejemplos o links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685800" y="4133088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└── outputs/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572000" y="4133088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Resultados y reportes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Buenas prácticas con Jupyter / Colab y Git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365760" y="685800"/>
            <a:ext cx="8412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Notebooks limpios y enfocados: un notebook = un propósito claro.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Separar código y análisis: extraer funciones a archivos .py cuando el código crece.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Commits frecuentes y descriptivos con mensajes claros.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requirements.txt con versiones fijas (pip freeze &gt; requirements.txt).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Documentar el README: descripción, instrucciones de instalación y ejecución.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457200" y="54864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600"/>
              <a:buFont typeface="Calibri"/>
              <a:buNone/>
            </a:pPr>
            <a:r>
              <a:rPr b="1" lang="en-US" sz="96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 de Pipelines y Control de Calidad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Componentes de un pipeline reproducible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274320" y="914400"/>
            <a:ext cx="1920240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274320" y="914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274320" y="155448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APIs, archivos, bases de datos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25"/>
          <p:cNvCxnSpPr/>
          <p:nvPr/>
        </p:nvCxnSpPr>
        <p:spPr>
          <a:xfrm>
            <a:off x="2194560" y="160020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25"/>
          <p:cNvSpPr/>
          <p:nvPr/>
        </p:nvSpPr>
        <p:spPr>
          <a:xfrm>
            <a:off x="2423160" y="914400"/>
            <a:ext cx="1920240" cy="13716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762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2423160" y="914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Limpieza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2423160" y="155448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Normalización, nulos, esquema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25"/>
          <p:cNvCxnSpPr/>
          <p:nvPr/>
        </p:nvCxnSpPr>
        <p:spPr>
          <a:xfrm>
            <a:off x="4343400" y="160020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25"/>
          <p:cNvSpPr/>
          <p:nvPr/>
        </p:nvSpPr>
        <p:spPr>
          <a:xfrm>
            <a:off x="4572000" y="914400"/>
            <a:ext cx="1920240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4572000" y="914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Almacenamiento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4572000" y="155448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Parquet, SQLite, BD relacional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25"/>
          <p:cNvCxnSpPr/>
          <p:nvPr/>
        </p:nvCxnSpPr>
        <p:spPr>
          <a:xfrm>
            <a:off x="6492240" y="160020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25"/>
          <p:cNvSpPr/>
          <p:nvPr/>
        </p:nvSpPr>
        <p:spPr>
          <a:xfrm>
            <a:off x="6720840" y="914400"/>
            <a:ext cx="192024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6720840" y="9144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6720840" y="155448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Timestamp, DVC, Control de cambios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274320" y="2560320"/>
            <a:ext cx="8595360" cy="237744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274320" y="2560320"/>
            <a:ext cx="73152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457200" y="26517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Reproducibilidad implica: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Cualquier persona puede ejecutar el pipeline y obtener los mismos resultados.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Facilita auditorías, mantenimiento y escalabilidad.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 la base para integración continua (CI/CD) en entornos productivos.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segura de credenciales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365760" y="685800"/>
            <a:ext cx="8412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Archivo .env – variables de entorno locales, excluido del repositorio (.gitignore).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python-dotenv: load_dotenv() + os.getenv('API_KEY') en Python.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AWS Secrets Manager – servicio gestionado, secretos cifrados, permisos controlados.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Nunca hardcodear claves en el código fuente ni en notebooks.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Regla de oro: si el .env se sube al repositorio, rota las credenciales de inmediato.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de calidad mínimo (checks de esquema)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365760" y="685800"/>
            <a:ext cx="84124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Verificar que las columnas esperadas estén presentes en el dataset.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Confirmar tipos de datos: numérico, texto, fecha.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Calcular % de valores nulos por columna y comparar contra umbral aceptable.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Definir reglas: imputar, eliminar filas o lanzar alerta según la criticidad.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Detectar problemas temprano evita errores costosos en análisis y modelos posteriores.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Concepto clave: Data Contracts – acuerdos formales de esquema entre productores y consumidores.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Resumen de la clase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457200" y="960120"/>
            <a:ext cx="832104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adquisición de datos es la etapa inicial y crítica del ciclo analítico.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datos se clasifican en estructurados, semi-estructurados, no estructurados y vectoriales.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CSV, Excel y Parquet tienen casos de uso distintos según tamaño y contexto.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APIs REST requieren autenticación, paginación y gestión de rate limits.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requests + .env = llamadas HTTP seguras y robustas en Python.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repositorio reproducible tiene estructura clara, requirements.txt y README documentado.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pipelines reproducibles incluyen ingesta, limpieza, almacenamiento y versionado.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control de calidad mínimo valida esquema, tipos y valores nulos.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457200" y="42793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Próxima clase: Práctica integradora — Python + SQL + APIs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2026-06-01T22:12:01Z</dcterms:created>
  <dc:creator>PptxGenJS</dc:creator>
</cp:coreProperties>
</file>