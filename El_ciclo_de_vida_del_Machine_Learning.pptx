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DE MACHINE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 vida del Machine Learning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pregunta de negocio al modelo en producción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128016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 ·  Aprendizaje supervisado y no supervisado  ·  Fuentes de datos en Python  ·  Preparación de datasets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clase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002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00200"/>
            <a:ext cx="109728" cy="960120"/>
          </a:xfrm>
          <a:prstGeom prst="roundRect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00200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03120" y="1719072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del ML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3120" y="2130552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iterativo: de la pregunta al modelo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70632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70632"/>
            <a:ext cx="109728" cy="960120"/>
          </a:xfrm>
          <a:prstGeom prst="round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0632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03120" y="2889504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supervisado y no supervisado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103120" y="3300984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usar cada enfoque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941064"/>
            <a:ext cx="109728" cy="960120"/>
          </a:xfrm>
          <a:prstGeom prst="roundRect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941064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103120" y="4059936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de datos y lectura en Python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103120" y="4471416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JSON, rutas y buenas prácticas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111496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5111496"/>
            <a:ext cx="109728" cy="960120"/>
          </a:xfrm>
          <a:prstGeom prst="round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111496"/>
            <a:ext cx="1005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103120" y="5230368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inicial de datasets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103120" y="5641848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tipos de datos y división train/test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1188720"/>
            <a:ext cx="1371600" cy="13716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/>
          <p:nvPr/>
        </p:nvSpPr>
        <p:spPr>
          <a:xfrm>
            <a:off x="1417320" y="11887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Lunes por la mañana...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datos de una app de streaming musical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0" y="822960"/>
            <a:ext cx="6949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“¿Podemos predecir qué usuarios cancelarán su suscripción el próximo mes para ofrecerles un descuento preventivo?”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63440" y="25146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 director de producto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063240"/>
            <a:ext cx="6949440" cy="0"/>
          </a:xfrm>
          <a:prstGeom prst="line">
            <a:avLst/>
          </a:prstGeom>
          <a:noFill/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caminos posibles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3440" y="379476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</p:spPr>
      </p:sp>
      <p:sp>
        <p:nvSpPr>
          <p:cNvPr id="13" name="Shape 11"/>
          <p:cNvSpPr/>
          <p:nvPr/>
        </p:nvSpPr>
        <p:spPr>
          <a:xfrm>
            <a:off x="4892040" y="40233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3212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en pánico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46634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algoritmos complejos al azar, sin método ni estructura.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3794760"/>
            <a:ext cx="3337560" cy="2331720"/>
          </a:xfrm>
          <a:prstGeom prst="roundRect">
            <a:avLst>
              <a:gd name="adj" fmla="val 3137"/>
            </a:avLst>
          </a:prstGeom>
          <a:solidFill>
            <a:srgbClr val="F4F7F9"/>
          </a:solidFill>
          <a:ln/>
        </p:spPr>
      </p:sp>
      <p:sp>
        <p:nvSpPr>
          <p:cNvPr id="18" name="Shape 16"/>
          <p:cNvSpPr/>
          <p:nvPr/>
        </p:nvSpPr>
        <p:spPr>
          <a:xfrm>
            <a:off x="8458200" y="40233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98280" y="40233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el Ciclo de Vida del 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46634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profesional: un proceso iterativo que guía cada decisión.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645920"/>
            <a:ext cx="3200400" cy="3200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0B8A9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3337560" y="2743200"/>
            <a:ext cx="0" cy="137160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517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de vida del ML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iterativo, no una línea recta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proceso profundamente experimental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4300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software tradicional (escribir → probar → desplegar), el ML no sabe de antemano si los datos alcanzan o si el algoritmo funcionará. Por eso el ciclo se dibuja como un círculo: la evaluación a menudo nos obliga a volver atrás.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886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baile constante entre los datos y los algoritmos.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48056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modelo falla, no se descarta el proyecto: se retrocede a recolectar más datos, limpiar mejor los existentes, o incluso redefinir el problema original.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03720" y="1371600"/>
            <a:ext cx="4297680" cy="4297680"/>
          </a:xfrm>
          <a:prstGeom prst="ellipse">
            <a:avLst/>
          </a:prstGeom>
          <a:ln w="25400">
            <a:solidFill>
              <a:srgbClr val="D8DEE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343900" y="617220"/>
            <a:ext cx="1417320" cy="141732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8343900" y="61722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92440" y="19888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0538460" y="2811780"/>
            <a:ext cx="1417320" cy="14173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0538460" y="28117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287000" y="41833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Adquirir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preparar datos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43900" y="5006340"/>
            <a:ext cx="1417320" cy="1417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343900" y="50063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092440" y="63779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49340" y="2811780"/>
            <a:ext cx="1417320" cy="141732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19" name="Text 17"/>
          <p:cNvSpPr/>
          <p:nvPr/>
        </p:nvSpPr>
        <p:spPr>
          <a:xfrm>
            <a:off x="6149340" y="281178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897880" y="41833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95360" y="30632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8D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Ciclo de vida del 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necesitamos un ciclo definido?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una estructura, los proyectos de ciencia de datos suelen fracasar por tres razones comunes: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alineación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es técnicamente brillante pero resuelve un problema que a nadie le interesa o sin impacto económico.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97680" y="18745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9456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0" y="31546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mala calidad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9776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algoritmos avanzados a datos con errores produce predicciones absurdas: Garbage In, Garbage Out.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187452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1945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321040" y="315468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Imposibilidad de despliegue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397764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funciona en la notebook del científico de datos, pero no puede integrarse a la infraestructura real.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Ciclo de vida del ML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 del problema: la piedra angular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gran proyecto de ML comienza con una pregunta, no con código. Traducimos una necesidad vaga de negocio en un requisito técnico concreto.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BEAE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NEGOCIO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“Estamos perdiendo clientes.”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537960" y="18288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4F7F5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DE ML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12280" y="22860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“Clasificar si un usuario cancelará su suscripción en 30 días según su historial de escucha y pagos.”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57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resultado es una categoría?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434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¿Es fraude o no?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352044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4F7F9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657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4069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resultado es un número continuo?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09360" y="4434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¿Cuál será el precio de venta de esta casa?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métricas de éxito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una intuición: necesitamos métricas técnicas conectadas con el negocio (ej. priorizar el Recall si nunca podemos dejar pasar una pieza de avión rota).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Ciclo de vida del ML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real: Uber y el ETA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Uber quiere predecir el tiempo de llegada (ETA), la métrica de éxito fundamental es el Error Medio Absoluto (MAE). La métrica define el norte del proyecto y determina cuándo el modelo está listo para producción.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5852160" cy="1737360"/>
          </a:xfrm>
          <a:prstGeom prst="roundRect">
            <a:avLst>
              <a:gd name="adj" fmla="val 4211"/>
            </a:avLst>
          </a:prstGeom>
          <a:solidFill>
            <a:srgbClr val="121D33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29768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predice 5 minutos, pero el auto llega en 15.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 experiencia del usuario se arruina — aunque el error promedio del modelo sea bajo.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1554480"/>
            <a:ext cx="4572000" cy="4297680"/>
          </a:xfrm>
          <a:prstGeom prst="roundRect">
            <a:avLst>
              <a:gd name="adj" fmla="val 2128"/>
            </a:avLst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828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704088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Medio Absoluto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589520" y="3246120"/>
            <a:ext cx="34747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347472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Promedia la diferencia absoluta entre el tiempo estimado y el tiempo real de llegada, en las mismas unidades del problema (minutos).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06640" y="4846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bien la métrica es tan importante como elegir bien el algoritmo.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Ciclo de vida del 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Adquisición y preparación de datos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80% del trabajo real en Data Science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 dónde vienen los datos?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 productivas (SQLAlchemy, PostgreSQL/SQLite)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logs en servidores (JSON o texto plano)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80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externas (clima, economía, etc.)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120640" cy="2606040"/>
          </a:xfrm>
          <a:prstGeom prst="roundRect">
            <a:avLst>
              <a:gd name="adj" fmla="val 2807"/>
            </a:avLst>
          </a:prstGeom>
          <a:solidFill>
            <a:srgbClr val="F4F7F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conceptual común: Overfitting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el modelo con los mismos datos que usaste para entrenarlo es como darle a un estudiante un examen con las mismas preguntas ya respondidas en su libro: no aprendió, memorizó.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035040" y="14630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regla de oro: dividir el dataset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08483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(Training Set)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245059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que el modelo "lee" para aprender los patrones.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3063240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18211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(Test Set)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17920" y="3547872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guardados bajo llave. El modelo nunca debe verlos durante el entrenamiento.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429768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E4F7F5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4434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 de clase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475488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un estudiante debe rendir un examen con preguntas que nunca vio, el modelo debe ser evaluado con datos que nunca "estudió".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Ciclo de vida del ML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Selección, entrenamiento y evaluación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15544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con el modelo más sencillo posible (regresión lineal, promedio histórico). Si el algoritmo complejo no lo supera claramente, quédate con el simple.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23560" y="15544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 busca la relación matemática entre las características (features) y el objetivo (target). En Scikit-Learn: método .fit().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81812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520440" cy="44805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72600" y="15544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275320" y="265176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21040" y="3200400"/>
            <a:ext cx="29718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el Test Set guardado. Si los resultados cumplen la métrica de éxito, avanzamos. Si no, volvemos atrás en el ciclo.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Ciclo de vida del ML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(Deployment) y Monitoreo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que solo vive en tu notebook no sirve para nada. El despliegue integra el modelo en el flujo de trabajo de la empresa.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E4F7F5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el modelo en una API que la app de e-commerce o el banco puedan llamar cada milisegundo.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1B2A4A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10312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Mantenimiento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34290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se degradan. A diferencia del software tradicional, el ML depende de la realidad.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29400" y="429768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121D33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3891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(Deriva de datos)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12280" y="470916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un modelo de recomendación de ropa de invierno falla cuando llega el verano — el comportamiento real de los datos cambió.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Ciclo de vida del ML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Síntesis: un círculo que evoluciona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del ML no es una línea que termina, sino un círculo que evoluciona.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121D33"/>
          </a:solidFill>
          <a:ln/>
        </p:spPr>
      </p:sp>
      <p:sp>
        <p:nvSpPr>
          <p:cNvPr id="6" name="Shape 4"/>
          <p:cNvSpPr/>
          <p:nvPr/>
        </p:nvSpPr>
        <p:spPr>
          <a:xfrm>
            <a:off x="1367028" y="2194560"/>
            <a:ext cx="685800" cy="6858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1367028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56616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pregunta y cómo la medimos?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71216" y="192024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121D33"/>
          </a:solidFill>
          <a:ln/>
        </p:spPr>
      </p:sp>
      <p:sp>
        <p:nvSpPr>
          <p:cNvPr id="11" name="Shape 9"/>
          <p:cNvSpPr/>
          <p:nvPr/>
        </p:nvSpPr>
        <p:spPr>
          <a:xfrm>
            <a:off x="3598164" y="2194560"/>
            <a:ext cx="685800" cy="6858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3598164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08376" y="30632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54096" y="356616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Extraer, limpiar y separar en entrenamiento y prueba.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02352" y="192024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121D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829300" y="2194560"/>
            <a:ext cx="685800" cy="6858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5829300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39512" y="30632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85232" y="356616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por un baseline y luego iterar hacia la complejidad.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33488" y="192024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121D33"/>
          </a:solidFill>
          <a:ln/>
        </p:spPr>
      </p:sp>
      <p:sp>
        <p:nvSpPr>
          <p:cNvPr id="21" name="Shape 19"/>
          <p:cNvSpPr/>
          <p:nvPr/>
        </p:nvSpPr>
        <p:spPr>
          <a:xfrm>
            <a:off x="8060436" y="2194560"/>
            <a:ext cx="685800" cy="6858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8060436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70648" y="30632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516368" y="356616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estrictos con el Test Set.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564624" y="1920240"/>
            <a:ext cx="2139696" cy="3749040"/>
          </a:xfrm>
          <a:prstGeom prst="roundRect">
            <a:avLst>
              <a:gd name="adj" fmla="val 3419"/>
            </a:avLst>
          </a:prstGeom>
          <a:solidFill>
            <a:srgbClr val="121D33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91572" y="2194560"/>
            <a:ext cx="685800" cy="6858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7" name="Text 25"/>
          <p:cNvSpPr/>
          <p:nvPr/>
        </p:nvSpPr>
        <p:spPr>
          <a:xfrm>
            <a:off x="10291572" y="2194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701784" y="306324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747504" y="356616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Desplegar y vigilar que el modelo no se vuelva obsoleto.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 · Ciclo de vida del ML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645920"/>
            <a:ext cx="3200400" cy="3200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0B8A9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3337560" y="2743200"/>
            <a:ext cx="0" cy="137160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517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supervisado y no supervisado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 elegir cómo enseñarle a la computadora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etiquetados vs. no etiquetados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hablar de algoritmos, hablemos del combustible: los datos. La diferencia entre tipos de aprendizaje radica en la estructura del dataset.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E4F7F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5257800" cy="109728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Etiquetados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conocemos la "respuesta correcta" para cada ejemplo: tenemos features + una etiqueta (target).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Correos con el texto del mensaje y una marca manual "Spam" / "No Spam".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617720"/>
            <a:ext cx="4709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754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estudiar con un examen que ya trae las soluciones al final del libro.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EDEF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5040" y="1828800"/>
            <a:ext cx="5257800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057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No Etiquetados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09360" y="2560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tenemos características. Ninguna variable nos dice qué es cada cosa.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37033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de miles de usuarios (páginas vistas, tiempo de estancia) sin clasificar.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4617720"/>
            <a:ext cx="4709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7548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predecir, sino encontrar una estructura oculta en los datos.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Supervisado y no supervisado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Supervisado: el modelo con profesor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científico de datos entrega respuestas ya dadas. El modelo predice, se mide qué tan lejos estuvo de la realidad, y ajusta sus parámetros para fallar menos. Su objetivo: la predicción.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— Categorías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 la etiqueta es discreta o categórica. Pregunta clave: "¿A qué grupo pertenece?"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4754880" cy="2468880"/>
          </a:xfrm>
          <a:prstGeom prst="roundRect">
            <a:avLst>
              <a:gd name="adj" fmla="val 2963"/>
            </a:avLst>
          </a:prstGeom>
          <a:solidFill>
            <a:srgbClr val="E4F7F5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03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· SALUD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3977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Health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4343400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redes neuronales entrenadas con imágenes de mamografías, etiquetadas por radiólogos como "Maligno" o "Benigno".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78040" y="2057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— Números continuos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cuando la etiqueta es un valor numérico continuo. Pregunta clave: "¿Cuánto?"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566160"/>
            <a:ext cx="4937760" cy="2468880"/>
          </a:xfrm>
          <a:prstGeom prst="roundRect">
            <a:avLst>
              <a:gd name="adj" fmla="val 2963"/>
            </a:avLst>
          </a:prstGeom>
          <a:solidFill>
            <a:srgbClr val="EDEFF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70332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· PROPTECH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3977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Zillow (Zestimate)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434340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metros cuadrados, ubicación y año de construcción para estimar el precio de mercado de una casa en dólares.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Supervisado y no supervisado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Aprendizaje No Supervisado: el explorador autónomo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damos al algoritmo los datos y le decimos: "encuentra algo interesante aquí". No hay etiquetas ni error que corregir. Su objetivo: descubrir estructuras.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03520" cy="4434840"/>
          </a:xfrm>
          <a:prstGeom prst="roundRect">
            <a:avLst>
              <a:gd name="adj" fmla="val 2062"/>
            </a:avLst>
          </a:prstGeom>
          <a:solidFill>
            <a:srgbClr val="121D33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057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(Agrupamiento)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objetos de forma que los miembros de un mismo grupo sean más similares entre sí que con los de otros grupos.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94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· E-COMMERCE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4069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4434840"/>
            <a:ext cx="4297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 usuarios sin ayuda humana: descubre grupos como "compra pañales los viernes y también cerveza".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783080"/>
            <a:ext cx="5486400" cy="4434840"/>
          </a:xfrm>
          <a:prstGeom prst="roundRect">
            <a:avLst>
              <a:gd name="adj" fmla="val 2062"/>
            </a:avLst>
          </a:prstGeom>
          <a:solidFill>
            <a:srgbClr val="121D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78040" y="20574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Dimensionalidad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2788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 datasets con demasiadas columnas, manteniendo la información esencial para poder visualizarlos o procesarlos.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65760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37947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 · GENÉTICA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629400" y="40690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(Análisis de Componentes Principales)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29400" y="457200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miles de marcadores genéticos a 2 o 3 variables graficables, para ver cómo se agrupan poblaciones humanas.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Supervisado y no supervisado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¿Cuándo usar cada uno? La guía de decisión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Hazte estas tres preguntas en orden: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¿Tengo una variable objetivo (etiqueta) en mis datos históricos?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→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49440" y="2651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E4F7F5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2724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¿Qué tipo de dato es la etiqueta?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3063240"/>
            <a:ext cx="5349240" cy="960120"/>
          </a:xfrm>
          <a:prstGeom prst="roundRect">
            <a:avLst>
              <a:gd name="adj" fmla="val 7619"/>
            </a:avLst>
          </a:prstGeom>
          <a:solidFill>
            <a:srgbClr val="FBEAE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12724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¿Qué quieres lograr?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434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(Sí/No, Riesgo)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5257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17520" y="429768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4434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(Precio, Edad)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08960" y="5257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429768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4434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individuos similares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5257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52560" y="4297680"/>
            <a:ext cx="2377440" cy="1920240"/>
          </a:xfrm>
          <a:prstGeom prst="roundRect">
            <a:avLst>
              <a:gd name="adj" fmla="val 3810"/>
            </a:avLst>
          </a:prstGeom>
          <a:solidFill>
            <a:srgbClr val="F4F7F9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0" y="4434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dataset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144000" y="5257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Dimensionalidad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Supervisado y no supervisado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y errores comunes de principiante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492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377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Aprendizaje Supervisado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Aprendizaje No Supervisado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Etiquetados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etiquetados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Objetivo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Predecir resultados para datos nuevos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Descubrir patrones ocultos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Intervención humana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(etiquetar datos)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(el modelo explora solo)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 principales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Clasificación y Regresión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y Reducción de Dimensión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 de Spam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A2E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Segmentación de mercado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0" y="1188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0" y="169164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452360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09560" y="178308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no supervisado no necesita datos": en realidad suele requerir MÁS datos para hallar patrones significativos.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7315200" y="320040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45236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09560" y="329184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Confundir Clasificación con Clustering: si defines los grupos de antemano es clasificación; si el algoritmo los descubre, es clustering.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7315200" y="470916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452360" y="4828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09560" y="480060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regresión es solo para el futuro": en realidad estima cualquier valor numérico desconocido, incluso en el presente.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2 · Supervisado y no supervisado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645920"/>
            <a:ext cx="3200400" cy="3200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0B8A9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3337560" y="2743200"/>
            <a:ext cx="0" cy="137160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517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de datos y lectura de archivos en Python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primer paso técnico: traer los datos a nuestro entorno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dónde vienen los datos y cómo los ubicamos?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fuentes de datos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planos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TSV — estándar de intercambio por su simplicidad.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834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estructurados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/ XML — ideales para datos jerárquicos o APIs web.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F4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binarias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/ Excel — optimizados para rendimiento o uso administrativo.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Rutas: el mapa hacia tus datos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BEAE8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642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absoluta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9933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completa desde la raíz del disco. Solo funciona en tu computadora.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55080" y="24505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C:\Usuarios\Proyecto\data.csv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15468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E4F7F5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2644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relativa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59359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respecto a donde está tu script. Mejor práctica: código compartible.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405079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data/dataset.csv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470916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8280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Consejo PRO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355080" y="5166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siempre la librería pathlib de Python: maneja rutas igual en Windows, Mac y Linux, sin cambiar barras manualmente.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Fuentes de datos en Python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Técnicas de lectura: CSV y JSON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CSV con Pandas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pd.read_csv() conviertes el archivo en un DataFrame: una estructura poderosa para manipular tablas.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69748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121D3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889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</a:t>
            </a:r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'datos.csv'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sep=</a:t>
            </a:r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','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encoding=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'utf-8'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datos tabulares, el formato más común para intercambio de datos.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3716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JSON con json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18288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nativamente como un diccionario de Python. Es vital usar el bloque with (context manager).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269748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121D33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27889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FE7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</a:t>
            </a:r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'config.json'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f: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datos = json.load(f)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88620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with garantiza que el archivo se cierre correctamente aunque ocurra un error durante la lectura.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Fuentes de datos en Python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comunes al leer archivos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44475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 el encoding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0" y="190195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ves caracteres extraños como "Ã±" en vez de "ñ", el archivo probablemente esté en latin-1 o utf-8. Especifica encoding='utf-8' al leer.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1B2A4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20040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828800" y="304495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cerrar el archivo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828800" y="350215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abres un archivo sin with, queda "bloqueado" por el sistema operativo hasta que el programa termine.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80060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00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28800" y="464515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el separador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5102352"/>
            <a:ext cx="9509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todos los CSV usan comas: algunos usan punto y coma (;) o pipes (|). Verifica siempre las primeras líneas antes de leer.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 · Fuentes de datos en Python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474720"/>
            <a:ext cx="5486400" cy="54864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645920"/>
            <a:ext cx="3200400" cy="3200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0B8A9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3337560" y="2743200"/>
            <a:ext cx="0" cy="137160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6517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Preparación inicial de datasets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657600" y="3611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Limpieza, tipos y división: el puente hacia el modelado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debemos limpiar los datos?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ML es tan bueno como los datos con los que se entrena (Garbage In, Garbage Out).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 (NaN)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 algoritmos de Scikit-Learn no pueden trabajar con valores faltantes y lanzarán un error.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2628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526280" y="233172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filas repetidas dan importancia artificial a ciertos patrones: el modelo "memoriza" esos casos.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8046720" y="1737360"/>
            <a:ext cx="352044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B2A4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75320" y="18745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75320" y="233172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fecha distintos o errores tipográficos ("Macho" vs "macho") confunden al modelo.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Exploratorio Inicial (EDA)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4389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limpiar, debemos observar. En Pandas usamos: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166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tipos de datos y cantidad de no-nulos.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0" y="4800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480560" y="5166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estadísticas rápidas (media, desviación estándar).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138160" y="4800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38160" y="516636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exactamente cuántos datos faltan por columna.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Preparación de datasets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de oro: División Train-Test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0"/>
          </a:xfrm>
          <a:prstGeom prst="line">
            <a:avLst/>
          </a:prstGeom>
          <a:noFill/>
          <a:ln w="381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debemos evaluar nuestro modelo con los mismos datos que usamos para entrenarlo.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7772400" cy="914400"/>
          </a:xfrm>
          <a:prstGeom prst="roundRect">
            <a:avLst>
              <a:gd name="adj" fmla="val 6000"/>
            </a:avLst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— 70-80%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66760" y="1783080"/>
            <a:ext cx="3246120" cy="9144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366760" y="1783080"/>
            <a:ext cx="3246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20-30%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ve y aprende los patrones del set de entrenamiento. El set de prueba es el examen final: datos que el modelo JAMÁS vio, para medir su capacidad real de generalización.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64240" cy="2423160"/>
          </a:xfrm>
          <a:prstGeom prst="roundRect">
            <a:avLst>
              <a:gd name="adj" fmla="val 3774"/>
            </a:avLst>
          </a:prstGeom>
          <a:solidFill>
            <a:srgbClr val="FBEAE8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023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691640" y="40690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¡Cuidado! Data Leakage (Fuga de datos)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4526280"/>
            <a:ext cx="9509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información del set de prueba se filtra al de entrenamiento — por ejemplo, si usamos la media de TODO el dataset para llenar nulos antes de dividir.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5349240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ideal es: primero dividir, luego limpiar.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 · Preparación de datasets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6F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recordar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algoritmo es solo una pieza pequeña del gran rompecabezas del ciclo de vida.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del ML es iterativo: no es una línea, es un círculo.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34747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bien el problema y la métrica de éxito es la base de todo.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2519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Supervisado predice; No supervisado descubre estructuras.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50292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evalúes con los datos que usaste para entrenar.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clase: distinguiremos los "sabores" de estos modelos y empezaremos a programar en Scikit-Learn.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2026-09-01T10:07:25Z</dcterms:created>
  <dcterms:modified xsi:type="dcterms:W3CDTF">2026-09-01T10:07:25Z</dcterms:modified>
</cp:coreProperties>
</file>