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ktsF1kIEEETcfCznu8LjaMKK7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BF0B31-6EB3-4F33-BF96-8B33F59DA3BE}">
  <a:tblStyle styleId="{BDBF0B31-6EB3-4F33-BF96-8B33F59DA3B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132320" y="3474720"/>
            <a:ext cx="3200400" cy="3200400"/>
          </a:xfrm>
          <a:prstGeom prst="ellipse">
            <a:avLst/>
          </a:prstGeom>
          <a:solidFill>
            <a:srgbClr val="00A896">
              <a:alpha val="12156"/>
            </a:srgbClr>
          </a:solidFill>
          <a:ln cap="flat" cmpd="sng" w="12700">
            <a:solidFill>
              <a:srgbClr val="00A89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772400" y="182880"/>
            <a:ext cx="2011680" cy="2011680"/>
          </a:xfrm>
          <a:prstGeom prst="ellipse">
            <a:avLst/>
          </a:prstGeom>
          <a:solidFill>
            <a:srgbClr val="02C39A">
              <a:alpha val="14901"/>
            </a:srgbClr>
          </a:solidFill>
          <a:ln cap="flat" cmpd="sng" w="12700">
            <a:solidFill>
              <a:srgbClr val="02C39A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48640" y="822960"/>
            <a:ext cx="1645920" cy="384048"/>
          </a:xfrm>
          <a:prstGeom prst="roundRect">
            <a:avLst>
              <a:gd fmla="val 11905" name="adj"/>
            </a:avLst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548640" y="822960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UNIDAD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40" y="1371600"/>
            <a:ext cx="685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SQL para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Ciencia de Datos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329184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8D8E8"/>
                </a:solidFill>
                <a:latin typeface="Calibri"/>
                <a:ea typeface="Calibri"/>
                <a:cs typeface="Calibri"/>
                <a:sym typeface="Calibri"/>
              </a:rPr>
              <a:t>Fundamentos esenciales: SELECT · WHERE · GROUP BY · DDL · DML · DQL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640" y="3931920"/>
            <a:ext cx="2286000" cy="4572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548640" y="411480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Nivel Intermedio  ·  Bases de Datos Relacionales  ·  Python + SQL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¿Por qué SQL en Ciencia de Datos?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57200" y="960120"/>
            <a:ext cx="2926080" cy="2286000"/>
          </a:xfrm>
          <a:prstGeom prst="roundRect">
            <a:avLst>
              <a:gd fmla="val 4800" name="adj"/>
            </a:avLst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457200" y="1097280"/>
            <a:ext cx="2926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&gt;80%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2103120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F4F6"/>
                </a:solidFill>
                <a:latin typeface="Calibri"/>
                <a:ea typeface="Calibri"/>
                <a:cs typeface="Calibri"/>
                <a:sym typeface="Calibri"/>
              </a:rPr>
              <a:t>de los datos empresariales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F4F6"/>
                </a:solidFill>
                <a:latin typeface="Calibri"/>
                <a:ea typeface="Calibri"/>
                <a:cs typeface="Calibri"/>
                <a:sym typeface="Calibri"/>
              </a:rPr>
              <a:t>están en bases de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F4F6"/>
                </a:solidFill>
                <a:latin typeface="Calibri"/>
                <a:ea typeface="Calibri"/>
                <a:cs typeface="Calibri"/>
                <a:sym typeface="Calibri"/>
              </a:rPr>
              <a:t>relacionales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749040" y="960120"/>
            <a:ext cx="1600200" cy="2286000"/>
          </a:xfrm>
          <a:prstGeom prst="roundRect">
            <a:avLst>
              <a:gd fmla="val 5714" name="adj"/>
            </a:avLst>
          </a:prstGeom>
          <a:solidFill>
            <a:srgbClr val="F0F9FB"/>
          </a:solidFill>
          <a:ln cap="flat" cmpd="sng" w="12700">
            <a:solidFill>
              <a:srgbClr val="E8F4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5968" y="11155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3749040" y="169164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Extraer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749040" y="2057400"/>
            <a:ext cx="1600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63500" lIns="63500" spcFirstLastPara="1" rIns="63500" wrap="square" tIns="6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Consulta millones de registros con pocas líneas de código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532120" y="960120"/>
            <a:ext cx="1600200" cy="2286000"/>
          </a:xfrm>
          <a:prstGeom prst="roundRect">
            <a:avLst>
              <a:gd fmla="val 5714" name="adj"/>
            </a:avLst>
          </a:prstGeom>
          <a:solidFill>
            <a:srgbClr val="F0F9FB"/>
          </a:solidFill>
          <a:ln cap="flat" cmpd="sng" w="12700">
            <a:solidFill>
              <a:srgbClr val="E8F4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9048" y="11155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5532120" y="169164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Filtrar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532120" y="2057400"/>
            <a:ext cx="1600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63500" lIns="63500" spcFirstLastPara="1" rIns="63500" wrap="square" tIns="6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Selecciona exactamente los datos que necesitas para tu análisis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315200" y="960120"/>
            <a:ext cx="1600200" cy="2286000"/>
          </a:xfrm>
          <a:prstGeom prst="roundRect">
            <a:avLst>
              <a:gd fmla="val 5714" name="adj"/>
            </a:avLst>
          </a:prstGeom>
          <a:solidFill>
            <a:srgbClr val="F0F9FB"/>
          </a:solidFill>
          <a:ln cap="flat" cmpd="sng" w="12700">
            <a:solidFill>
              <a:srgbClr val="E8F4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82128" y="11155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7315200" y="169164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Agrupar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315200" y="2057400"/>
            <a:ext cx="1600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63500" lIns="63500" spcFirstLastPara="1" rIns="63500" wrap="square" tIns="6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Agrega y resume datos para obtener métricas clave del negocio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solidFill>
            <a:srgbClr val="E8F7F5"/>
          </a:solidFill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SQL es la puerta de entrada a cualquier base de datos relacional — sin importar si usás MySQL, PostgreSQL, SQLite o DuckDB.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B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Objetivos de la Unidad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57200" y="1005840"/>
            <a:ext cx="822960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D1EA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457200" y="1005840"/>
            <a:ext cx="640080" cy="777240"/>
          </a:xfrm>
          <a:prstGeom prst="roundRect">
            <a:avLst>
              <a:gd fmla="val 11429" name="adj"/>
            </a:avLst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457200" y="1005840"/>
            <a:ext cx="640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1234440" y="1005840"/>
            <a:ext cx="7223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Explicar qué es SQL y su rol en la ciencia de datos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57200" y="1938528"/>
            <a:ext cx="822960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D1EA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457200" y="1938528"/>
            <a:ext cx="640080" cy="777240"/>
          </a:xfrm>
          <a:prstGeom prst="roundRect">
            <a:avLst>
              <a:gd fmla="val 11429" name="adj"/>
            </a:avLst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457200" y="1938528"/>
            <a:ext cx="640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234440" y="1938528"/>
            <a:ext cx="7223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Diferenciar DDL, DML y DQL con ejemplos concretos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57200" y="2871216"/>
            <a:ext cx="822960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D1EA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57200" y="2871216"/>
            <a:ext cx="640080" cy="777240"/>
          </a:xfrm>
          <a:prstGeom prst="roundRect">
            <a:avLst>
              <a:gd fmla="val 11429" name="adj"/>
            </a:avLst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457200" y="2871216"/>
            <a:ext cx="640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234440" y="2871216"/>
            <a:ext cx="7223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Escribir consultas básicas con SELECT, WHERE y GROUP BY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57200" y="3803904"/>
            <a:ext cx="822960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D1EA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457200" y="3803904"/>
            <a:ext cx="640080" cy="777240"/>
          </a:xfrm>
          <a:prstGeom prst="roundRect">
            <a:avLst>
              <a:gd fmla="val 11429" name="adj"/>
            </a:avLst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57200" y="3803904"/>
            <a:ext cx="640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234440" y="3803904"/>
            <a:ext cx="7223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Integrar consultas SQL desde Python con sqlite3 / DuckDB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SQL: Lenguaje Declarativo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65760" y="960120"/>
            <a:ext cx="3931920" cy="3383280"/>
          </a:xfrm>
          <a:prstGeom prst="roundRect">
            <a:avLst>
              <a:gd fmla="val 2703" name="adj"/>
            </a:avLst>
          </a:prstGeom>
          <a:solidFill>
            <a:srgbClr val="F0F9FB"/>
          </a:solidFill>
          <a:ln cap="flat" cmpd="sng" w="12700">
            <a:solidFill>
              <a:srgbClr val="E8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57200" y="1051560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¿Qué significa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declarativo?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57200" y="1783080"/>
            <a:ext cx="3749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Vos especificás </a:t>
            </a: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QUÉ</a:t>
            </a: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datos querés obtener,</a:t>
            </a:r>
            <a:b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el </a:t>
            </a: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CÓMO</a:t>
            </a: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ejecutarlo.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El motor de la base de datos decide la estrategia más eficiente internamente.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" name="Google Shape;8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33375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"/>
          <p:cNvSpPr/>
          <p:nvPr/>
        </p:nvSpPr>
        <p:spPr>
          <a:xfrm>
            <a:off x="822960" y="3310128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Simplicidad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" name="Google Shape;8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36576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/>
          <p:nvPr/>
        </p:nvSpPr>
        <p:spPr>
          <a:xfrm>
            <a:off x="822960" y="3630168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Optimización automática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" y="39776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4"/>
          <p:cNvSpPr/>
          <p:nvPr/>
        </p:nvSpPr>
        <p:spPr>
          <a:xfrm>
            <a:off x="822960" y="3950208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Portabilidad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480560" y="960120"/>
            <a:ext cx="4297680" cy="3383280"/>
          </a:xfrm>
          <a:prstGeom prst="roundRect">
            <a:avLst>
              <a:gd fmla="val 2703" name="adj"/>
            </a:avLst>
          </a:prstGeom>
          <a:solidFill>
            <a:srgbClr val="1A2E3B"/>
          </a:solidFill>
          <a:ln cap="flat" cmpd="sng" w="12700">
            <a:solidFill>
              <a:srgbClr val="1A2E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4663440" y="114300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9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A8A9F"/>
                </a:solidFill>
                <a:latin typeface="Calibri"/>
                <a:ea typeface="Calibri"/>
                <a:cs typeface="Calibri"/>
                <a:sym typeface="Calibri"/>
              </a:rPr>
              <a:t>-- Ejemplo declarativo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663440" y="14630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EC8E3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663440" y="173736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8D8E8"/>
                </a:solidFill>
                <a:latin typeface="Calibri"/>
                <a:ea typeface="Calibri"/>
                <a:cs typeface="Calibri"/>
                <a:sym typeface="Calibri"/>
              </a:rPr>
              <a:t>    nombre, ventas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663440" y="20116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EC8E3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663440" y="228600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8D8E8"/>
                </a:solidFill>
                <a:latin typeface="Calibri"/>
                <a:ea typeface="Calibri"/>
                <a:cs typeface="Calibri"/>
                <a:sym typeface="Calibri"/>
              </a:rPr>
              <a:t>    clientes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663440" y="25603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EC8E3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663440" y="28346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8D8E8"/>
                </a:solidFill>
                <a:latin typeface="Calibri"/>
                <a:ea typeface="Calibri"/>
                <a:cs typeface="Calibri"/>
                <a:sym typeface="Calibri"/>
              </a:rPr>
              <a:t>    ventas &gt; 10000;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480560" y="3246120"/>
            <a:ext cx="4297680" cy="36576"/>
          </a:xfrm>
          <a:prstGeom prst="rect">
            <a:avLst/>
          </a:prstGeom>
          <a:solidFill>
            <a:srgbClr val="1F3A4A"/>
          </a:solidFill>
          <a:ln cap="flat" cmpd="sng" w="12700">
            <a:solidFill>
              <a:srgbClr val="1F3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4572000" y="3310128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9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A8A9F"/>
                </a:solidFill>
                <a:latin typeface="Calibri"/>
                <a:ea typeface="Calibri"/>
                <a:cs typeface="Calibri"/>
                <a:sym typeface="Calibri"/>
              </a:rPr>
              <a:t>No necesitás decirle al motor cómo recorrer la tabla.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9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A8A9F"/>
                </a:solidFill>
                <a:latin typeface="Calibri"/>
                <a:ea typeface="Calibri"/>
                <a:cs typeface="Calibri"/>
                <a:sym typeface="Calibri"/>
              </a:rPr>
              <a:t>Él lo resuelve por vos.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Sublenguajes de SQL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57200" y="896112"/>
            <a:ext cx="8229600" cy="292608"/>
          </a:xfrm>
          <a:prstGeom prst="roundRect">
            <a:avLst>
              <a:gd fmla="val 15625" name="adj"/>
            </a:avLst>
          </a:prstGeom>
          <a:solidFill>
            <a:srgbClr val="1A3A52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★  En esta unidad nos enfocamos en DDL, DML y DQL — los esenciales para manipulación básica de datos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365760" y="1325880"/>
            <a:ext cx="1508760" cy="3291840"/>
          </a:xfrm>
          <a:prstGeom prst="roundRect">
            <a:avLst>
              <a:gd fmla="val 6061" name="adj"/>
            </a:avLst>
          </a:prstGeom>
          <a:solidFill>
            <a:srgbClr val="1A2E3B"/>
          </a:solidFill>
          <a:ln cap="flat" cmpd="sng" w="25400">
            <a:solidFill>
              <a:srgbClr val="E8485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548640" y="1463040"/>
            <a:ext cx="1143000" cy="502920"/>
          </a:xfrm>
          <a:prstGeom prst="roundRect">
            <a:avLst>
              <a:gd fmla="val 12727" name="adj"/>
            </a:avLst>
          </a:prstGeom>
          <a:solidFill>
            <a:srgbClr val="E84855"/>
          </a:solidFill>
          <a:ln cap="flat" cmpd="sng" w="12700">
            <a:solidFill>
              <a:srgbClr val="E84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548640" y="1463040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DDL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365760" y="2084832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48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4855"/>
                </a:solidFill>
                <a:latin typeface="Calibri"/>
                <a:ea typeface="Calibri"/>
                <a:cs typeface="Calibri"/>
                <a:sym typeface="Calibri"/>
              </a:rPr>
              <a:t>Data Definition Language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365760" y="2697480"/>
            <a:ext cx="1508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6"/>
                </a:solidFill>
                <a:latin typeface="Calibri"/>
                <a:ea typeface="Calibri"/>
                <a:cs typeface="Calibri"/>
                <a:sym typeface="Calibri"/>
              </a:rPr>
              <a:t>Define la estructura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6"/>
                </a:solidFill>
                <a:latin typeface="Calibri"/>
                <a:ea typeface="Calibri"/>
                <a:cs typeface="Calibri"/>
                <a:sym typeface="Calibri"/>
              </a:rPr>
              <a:t>de la BD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57200" y="3429000"/>
            <a:ext cx="1325880" cy="36576"/>
          </a:xfrm>
          <a:prstGeom prst="rect">
            <a:avLst/>
          </a:prstGeom>
          <a:solidFill>
            <a:srgbClr val="E84855">
              <a:alpha val="40000"/>
            </a:srgbClr>
          </a:solidFill>
          <a:ln cap="flat" cmpd="sng" w="12700">
            <a:solidFill>
              <a:srgbClr val="E8485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365760" y="3502152"/>
            <a:ext cx="1508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485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4855"/>
                </a:solidFill>
                <a:latin typeface="Calibri"/>
                <a:ea typeface="Calibri"/>
                <a:cs typeface="Calibri"/>
                <a:sym typeface="Calibri"/>
              </a:rPr>
              <a:t>CREATE · ALTER · DROP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2057400" y="1325880"/>
            <a:ext cx="1508760" cy="3291840"/>
          </a:xfrm>
          <a:prstGeom prst="roundRect">
            <a:avLst>
              <a:gd fmla="val 6061" name="adj"/>
            </a:avLst>
          </a:prstGeom>
          <a:solidFill>
            <a:srgbClr val="1A2E3B"/>
          </a:solidFill>
          <a:ln cap="flat" cmpd="sng" w="254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2240280" y="1463040"/>
            <a:ext cx="1143000" cy="502920"/>
          </a:xfrm>
          <a:prstGeom prst="roundRect">
            <a:avLst>
              <a:gd fmla="val 12727" name="adj"/>
            </a:avLst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2240280" y="1463040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DML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2057400" y="2084832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Data Manipulation Language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2057400" y="2697480"/>
            <a:ext cx="1508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6"/>
                </a:solidFill>
                <a:latin typeface="Calibri"/>
                <a:ea typeface="Calibri"/>
                <a:cs typeface="Calibri"/>
                <a:sym typeface="Calibri"/>
              </a:rPr>
              <a:t>Modifica los datos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6"/>
                </a:solidFill>
                <a:latin typeface="Calibri"/>
                <a:ea typeface="Calibri"/>
                <a:cs typeface="Calibri"/>
                <a:sym typeface="Calibri"/>
              </a:rPr>
              <a:t>dentro de tablas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2148840" y="3429000"/>
            <a:ext cx="1325880" cy="36576"/>
          </a:xfrm>
          <a:prstGeom prst="rect">
            <a:avLst/>
          </a:prstGeom>
          <a:solidFill>
            <a:srgbClr val="F4A261">
              <a:alpha val="40000"/>
            </a:srgbClr>
          </a:solidFill>
          <a:ln cap="flat" cmpd="sng" w="12700">
            <a:solidFill>
              <a:srgbClr val="F4A26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2057400" y="3502152"/>
            <a:ext cx="1508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INSERT · UPDATE · DELETE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3749040" y="1325880"/>
            <a:ext cx="1508760" cy="3291840"/>
          </a:xfrm>
          <a:prstGeom prst="roundRect">
            <a:avLst>
              <a:gd fmla="val 6061" name="adj"/>
            </a:avLst>
          </a:prstGeom>
          <a:solidFill>
            <a:srgbClr val="1A2E3B"/>
          </a:solidFill>
          <a:ln cap="flat" cmpd="sng" w="254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3931920" y="1463040"/>
            <a:ext cx="1143000" cy="502920"/>
          </a:xfrm>
          <a:prstGeom prst="roundRect">
            <a:avLst>
              <a:gd fmla="val 12727" name="adj"/>
            </a:avLst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3931920" y="1463040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DQL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3749040" y="2084832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Data Query Language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749040" y="2697480"/>
            <a:ext cx="1508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6"/>
                </a:solidFill>
                <a:latin typeface="Calibri"/>
                <a:ea typeface="Calibri"/>
                <a:cs typeface="Calibri"/>
                <a:sym typeface="Calibri"/>
              </a:rPr>
              <a:t>Consulta y recupera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6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840480" y="3429000"/>
            <a:ext cx="1325880" cy="36576"/>
          </a:xfrm>
          <a:prstGeom prst="rect">
            <a:avLst/>
          </a:prstGeom>
          <a:solidFill>
            <a:srgbClr val="02C39A">
              <a:alpha val="40000"/>
            </a:srgbClr>
          </a:solidFill>
          <a:ln cap="flat" cmpd="sng" w="12700">
            <a:solidFill>
              <a:srgbClr val="02C39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3749040" y="3502152"/>
            <a:ext cx="1508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440680" y="1325880"/>
            <a:ext cx="1508760" cy="3291840"/>
          </a:xfrm>
          <a:prstGeom prst="roundRect">
            <a:avLst>
              <a:gd fmla="val 6061" name="adj"/>
            </a:avLst>
          </a:prstGeom>
          <a:solidFill>
            <a:srgbClr val="122030"/>
          </a:solidFill>
          <a:ln cap="flat" cmpd="sng" w="9525">
            <a:solidFill>
              <a:srgbClr val="8B9D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5623560" y="1463040"/>
            <a:ext cx="1143000" cy="502920"/>
          </a:xfrm>
          <a:prstGeom prst="roundRect">
            <a:avLst>
              <a:gd fmla="val 12727" name="adj"/>
            </a:avLst>
          </a:prstGeom>
          <a:solidFill>
            <a:srgbClr val="8B9DC3"/>
          </a:solidFill>
          <a:ln cap="flat" cmpd="sng" w="12700">
            <a:solidFill>
              <a:srgbClr val="8B9D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5623560" y="1463040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TCL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440680" y="2084832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Transaction Control Language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440680" y="2697480"/>
            <a:ext cx="1508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6"/>
                </a:solidFill>
                <a:latin typeface="Calibri"/>
                <a:ea typeface="Calibri"/>
                <a:cs typeface="Calibri"/>
                <a:sym typeface="Calibri"/>
              </a:rPr>
              <a:t>Controla transacciones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6"/>
                </a:solidFill>
                <a:latin typeface="Calibri"/>
                <a:ea typeface="Calibri"/>
                <a:cs typeface="Calibri"/>
                <a:sym typeface="Calibri"/>
              </a:rPr>
              <a:t>para integridad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532120" y="3429000"/>
            <a:ext cx="1325880" cy="36576"/>
          </a:xfrm>
          <a:prstGeom prst="rect">
            <a:avLst/>
          </a:prstGeom>
          <a:solidFill>
            <a:srgbClr val="8B9DC3">
              <a:alpha val="40000"/>
            </a:srgbClr>
          </a:solidFill>
          <a:ln cap="flat" cmpd="sng" w="12700">
            <a:solidFill>
              <a:srgbClr val="8B9DC3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5440680" y="3502152"/>
            <a:ext cx="1508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COMMIT · ROLLBACK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7132320" y="1325880"/>
            <a:ext cx="1508760" cy="3291840"/>
          </a:xfrm>
          <a:prstGeom prst="roundRect">
            <a:avLst>
              <a:gd fmla="val 6061" name="adj"/>
            </a:avLst>
          </a:prstGeom>
          <a:solidFill>
            <a:srgbClr val="122030"/>
          </a:solidFill>
          <a:ln cap="flat" cmpd="sng" w="9525">
            <a:solidFill>
              <a:srgbClr val="8B9D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7315200" y="1463040"/>
            <a:ext cx="1143000" cy="502920"/>
          </a:xfrm>
          <a:prstGeom prst="roundRect">
            <a:avLst>
              <a:gd fmla="val 12727" name="adj"/>
            </a:avLst>
          </a:prstGeom>
          <a:solidFill>
            <a:srgbClr val="8B9DC3"/>
          </a:solidFill>
          <a:ln cap="flat" cmpd="sng" w="12700">
            <a:solidFill>
              <a:srgbClr val="8B9D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7315200" y="1463040"/>
            <a:ext cx="11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DCL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7132320" y="2084832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Data Control Language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7132320" y="2697480"/>
            <a:ext cx="1508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6"/>
                </a:solidFill>
                <a:latin typeface="Calibri"/>
                <a:ea typeface="Calibri"/>
                <a:cs typeface="Calibri"/>
                <a:sym typeface="Calibri"/>
              </a:rPr>
              <a:t>Gestiona permisos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6"/>
                </a:solidFill>
                <a:latin typeface="Calibri"/>
                <a:ea typeface="Calibri"/>
                <a:cs typeface="Calibri"/>
                <a:sym typeface="Calibri"/>
              </a:rPr>
              <a:t>y seguridad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7223760" y="3429000"/>
            <a:ext cx="1325880" cy="36576"/>
          </a:xfrm>
          <a:prstGeom prst="rect">
            <a:avLst/>
          </a:prstGeom>
          <a:solidFill>
            <a:srgbClr val="8B9DC3">
              <a:alpha val="40000"/>
            </a:srgbClr>
          </a:solidFill>
          <a:ln cap="flat" cmpd="sng" w="12700">
            <a:solidFill>
              <a:srgbClr val="8B9DC3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7132320" y="3502152"/>
            <a:ext cx="1508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GRANT · REVOKE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855"/>
          </a:solidFill>
          <a:ln cap="flat" cmpd="sng" w="12700">
            <a:solidFill>
              <a:srgbClr val="E84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457200" y="182880"/>
            <a:ext cx="822960" cy="411480"/>
          </a:xfrm>
          <a:prstGeom prst="roundRect">
            <a:avLst>
              <a:gd fmla="val 13333" name="adj"/>
            </a:avLst>
          </a:prstGeom>
          <a:solidFill>
            <a:srgbClr val="E84855"/>
          </a:solidFill>
          <a:ln cap="flat" cmpd="sng" w="12700">
            <a:solidFill>
              <a:srgbClr val="E84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457200" y="18288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DDL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1417320" y="201168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Data Definition Language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Define y modifica la estructura de la base de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457200" y="1097280"/>
            <a:ext cx="3657600" cy="713232"/>
          </a:xfrm>
          <a:prstGeom prst="roundRect">
            <a:avLst>
              <a:gd fmla="val 10256" name="adj"/>
            </a:avLst>
          </a:prstGeom>
          <a:solidFill>
            <a:srgbClr val="F0F9FB"/>
          </a:solidFill>
          <a:ln cap="flat" cmpd="sng" w="12700">
            <a:solidFill>
              <a:srgbClr val="D1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457200" y="1097280"/>
            <a:ext cx="1005840" cy="713232"/>
          </a:xfrm>
          <a:prstGeom prst="roundRect">
            <a:avLst>
              <a:gd fmla="val 10256" name="adj"/>
            </a:avLst>
          </a:prstGeom>
          <a:solidFill>
            <a:srgbClr val="E84855"/>
          </a:solidFill>
          <a:ln cap="flat" cmpd="sng" w="12700">
            <a:solidFill>
              <a:srgbClr val="E84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457200" y="1097280"/>
            <a:ext cx="1005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1554480" y="1097280"/>
            <a:ext cx="24688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Crea nuevas tablas, vistas o bases de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57200" y="1965960"/>
            <a:ext cx="3657600" cy="713232"/>
          </a:xfrm>
          <a:prstGeom prst="roundRect">
            <a:avLst>
              <a:gd fmla="val 10256" name="adj"/>
            </a:avLst>
          </a:prstGeom>
          <a:solidFill>
            <a:srgbClr val="F0F9FB"/>
          </a:solidFill>
          <a:ln cap="flat" cmpd="sng" w="12700">
            <a:solidFill>
              <a:srgbClr val="D1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457200" y="1965960"/>
            <a:ext cx="1005840" cy="713232"/>
          </a:xfrm>
          <a:prstGeom prst="roundRect">
            <a:avLst>
              <a:gd fmla="val 10256" name="adj"/>
            </a:avLst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457200" y="1965960"/>
            <a:ext cx="1005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1554480" y="1965960"/>
            <a:ext cx="24688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Modifica la estructura de una tabla existente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457200" y="2834640"/>
            <a:ext cx="3657600" cy="713232"/>
          </a:xfrm>
          <a:prstGeom prst="roundRect">
            <a:avLst>
              <a:gd fmla="val 10256" name="adj"/>
            </a:avLst>
          </a:prstGeom>
          <a:solidFill>
            <a:srgbClr val="F0F9FB"/>
          </a:solidFill>
          <a:ln cap="flat" cmpd="sng" w="12700">
            <a:solidFill>
              <a:srgbClr val="D1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457200" y="2834640"/>
            <a:ext cx="1005840" cy="713232"/>
          </a:xfrm>
          <a:prstGeom prst="roundRect">
            <a:avLst>
              <a:gd fmla="val 10256" name="adj"/>
            </a:avLst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457200" y="2834640"/>
            <a:ext cx="1005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1554480" y="2834640"/>
            <a:ext cx="24688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Elimina tablas o bases de datos permanentemente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572000" y="960120"/>
            <a:ext cx="4206240" cy="3291840"/>
          </a:xfrm>
          <a:prstGeom prst="roundRect">
            <a:avLst>
              <a:gd fmla="val 2778" name="adj"/>
            </a:avLst>
          </a:prstGeom>
          <a:solidFill>
            <a:srgbClr val="1A2E3B"/>
          </a:solidFill>
          <a:ln cap="flat" cmpd="sng" w="12700">
            <a:solidFill>
              <a:srgbClr val="1A2E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4754880" y="11430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9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5A8A9F"/>
                </a:solidFill>
                <a:latin typeface="Courier New"/>
                <a:ea typeface="Courier New"/>
                <a:cs typeface="Courier New"/>
                <a:sym typeface="Courier New"/>
              </a:rPr>
              <a:t>-- Crear tabla de clientes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754880" y="14173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7EC8E3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clientes (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754880" y="16916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8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A8D8E8"/>
                </a:solidFill>
                <a:latin typeface="Courier New"/>
                <a:ea typeface="Courier New"/>
                <a:cs typeface="Courier New"/>
                <a:sym typeface="Courier New"/>
              </a:rPr>
              <a:t>    id     INTEGER PRIMARY KEY,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754880" y="196596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8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A8D8E8"/>
                </a:solidFill>
                <a:latin typeface="Courier New"/>
                <a:ea typeface="Courier New"/>
                <a:cs typeface="Courier New"/>
                <a:sym typeface="Courier New"/>
              </a:rPr>
              <a:t>    nombre TEXT NOT NULL,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754880" y="224028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8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A8D8E8"/>
                </a:solidFill>
                <a:latin typeface="Courier New"/>
                <a:ea typeface="Courier New"/>
                <a:cs typeface="Courier New"/>
                <a:sym typeface="Courier New"/>
              </a:rPr>
              <a:t>    email  TEXT UNIQUE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4754880" y="25146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4754880" y="27889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754880" y="30632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9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5A8A9F"/>
                </a:solidFill>
                <a:latin typeface="Courier New"/>
                <a:ea typeface="Courier New"/>
                <a:cs typeface="Courier New"/>
                <a:sym typeface="Courier New"/>
              </a:rPr>
              <a:t>-- Agregar columna de ventas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4754880" y="333756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7EC8E3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clientes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4754880" y="361188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8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A8D8E8"/>
                </a:solidFill>
                <a:latin typeface="Courier New"/>
                <a:ea typeface="Courier New"/>
                <a:cs typeface="Courier New"/>
                <a:sym typeface="Courier New"/>
              </a:rPr>
              <a:t>    ADD COLUMN ventas REAL;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457200" y="3822208"/>
            <a:ext cx="3936900" cy="7131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⚠️  DROP es irreversible — siempre hacé un backup antes.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457200" y="182880"/>
            <a:ext cx="822960" cy="411480"/>
          </a:xfrm>
          <a:prstGeom prst="roundRect">
            <a:avLst>
              <a:gd fmla="val 13333" name="adj"/>
            </a:avLst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457200" y="18288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DML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1417320" y="201168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Data Manipulation Language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Modifica los datos dentro de las tablas ya definidas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457200" y="1097280"/>
            <a:ext cx="3657600" cy="713232"/>
          </a:xfrm>
          <a:prstGeom prst="roundRect">
            <a:avLst>
              <a:gd fmla="val 10256" name="adj"/>
            </a:avLst>
          </a:prstGeom>
          <a:solidFill>
            <a:srgbClr val="F0F9FB"/>
          </a:solidFill>
          <a:ln cap="flat" cmpd="sng" w="12700">
            <a:solidFill>
              <a:srgbClr val="D1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457200" y="1097280"/>
            <a:ext cx="1051560" cy="713232"/>
          </a:xfrm>
          <a:prstGeom prst="roundRect">
            <a:avLst>
              <a:gd fmla="val 10256" name="adj"/>
            </a:avLst>
          </a:prstGeom>
          <a:solidFill>
            <a:srgbClr val="4CAF50"/>
          </a:solidFill>
          <a:ln cap="flat" cmpd="sng" w="127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457200" y="1097280"/>
            <a:ext cx="10515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INSERT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1600200" y="1097280"/>
            <a:ext cx="24231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Agrega nuevos registros a una tabla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57200" y="1965960"/>
            <a:ext cx="3657600" cy="713232"/>
          </a:xfrm>
          <a:prstGeom prst="roundRect">
            <a:avLst>
              <a:gd fmla="val 10256" name="adj"/>
            </a:avLst>
          </a:prstGeom>
          <a:solidFill>
            <a:srgbClr val="F0F9FB"/>
          </a:solidFill>
          <a:ln cap="flat" cmpd="sng" w="12700">
            <a:solidFill>
              <a:srgbClr val="D1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457200" y="1965960"/>
            <a:ext cx="1051560" cy="713232"/>
          </a:xfrm>
          <a:prstGeom prst="roundRect">
            <a:avLst>
              <a:gd fmla="val 10256" name="adj"/>
            </a:avLst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457200" y="1965960"/>
            <a:ext cx="10515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UPDATE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1600200" y="1965960"/>
            <a:ext cx="24231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Modifica registros existentes con condiciones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57200" y="2834640"/>
            <a:ext cx="3657600" cy="713232"/>
          </a:xfrm>
          <a:prstGeom prst="roundRect">
            <a:avLst>
              <a:gd fmla="val 10256" name="adj"/>
            </a:avLst>
          </a:prstGeom>
          <a:solidFill>
            <a:srgbClr val="F0F9FB"/>
          </a:solidFill>
          <a:ln cap="flat" cmpd="sng" w="12700">
            <a:solidFill>
              <a:srgbClr val="D1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457200" y="2834640"/>
            <a:ext cx="1051560" cy="713232"/>
          </a:xfrm>
          <a:prstGeom prst="roundRect">
            <a:avLst>
              <a:gd fmla="val 10256" name="adj"/>
            </a:avLst>
          </a:prstGeom>
          <a:solidFill>
            <a:srgbClr val="E84855"/>
          </a:solidFill>
          <a:ln cap="flat" cmpd="sng" w="12700">
            <a:solidFill>
              <a:srgbClr val="E848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457200" y="2834640"/>
            <a:ext cx="10515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1600200" y="2834640"/>
            <a:ext cx="24231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Elimina registros que cumplan una condición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572000" y="960120"/>
            <a:ext cx="4206240" cy="3291840"/>
          </a:xfrm>
          <a:prstGeom prst="roundRect">
            <a:avLst>
              <a:gd fmla="val 2778" name="adj"/>
            </a:avLst>
          </a:prstGeom>
          <a:solidFill>
            <a:srgbClr val="1A2E3B"/>
          </a:solidFill>
          <a:ln cap="flat" cmpd="sng" w="12700">
            <a:solidFill>
              <a:srgbClr val="1A2E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4754880" y="109728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9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5A8A9F"/>
                </a:solidFill>
                <a:latin typeface="Courier New"/>
                <a:ea typeface="Courier New"/>
                <a:cs typeface="Courier New"/>
                <a:sym typeface="Courier New"/>
              </a:rPr>
              <a:t>-- Insertar un cliente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754880" y="135331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EC8E3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clientes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4754880" y="160934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8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A8D8E8"/>
                </a:solidFill>
                <a:latin typeface="Courier New"/>
                <a:ea typeface="Courier New"/>
                <a:cs typeface="Courier New"/>
                <a:sym typeface="Courier New"/>
              </a:rPr>
              <a:t>    (nombre, email, ventas)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4754880" y="186537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8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A8D8E8"/>
                </a:solidFill>
                <a:latin typeface="Courier New"/>
                <a:ea typeface="Courier New"/>
                <a:cs typeface="Courier New"/>
                <a:sym typeface="Courier New"/>
              </a:rPr>
              <a:t>VALUES ('Ana López', 'ana@mail.com', 15000);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754880" y="212140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4754880" y="23774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9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5A8A9F"/>
                </a:solidFill>
                <a:latin typeface="Courier New"/>
                <a:ea typeface="Courier New"/>
                <a:cs typeface="Courier New"/>
                <a:sym typeface="Courier New"/>
              </a:rPr>
              <a:t>-- Actualizar ventas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4754880" y="263347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EC8E3"/>
                </a:solidFill>
                <a:latin typeface="Courier New"/>
                <a:ea typeface="Courier New"/>
                <a:cs typeface="Courier New"/>
                <a:sym typeface="Courier New"/>
              </a:rPr>
              <a:t>UPDATE clientes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4754880" y="288950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8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A8D8E8"/>
                </a:solidFill>
                <a:latin typeface="Courier New"/>
                <a:ea typeface="Courier New"/>
                <a:cs typeface="Courier New"/>
                <a:sym typeface="Courier New"/>
              </a:rPr>
              <a:t>SET ventas = ventas * 1.1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4754880" y="314553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8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A8D8E8"/>
                </a:solidFill>
                <a:latin typeface="Courier New"/>
                <a:ea typeface="Courier New"/>
                <a:cs typeface="Courier New"/>
                <a:sym typeface="Courier New"/>
              </a:rPr>
              <a:t>WHERE nombre = 'Ana López';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4754880" y="340156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754880" y="36576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9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5A8A9F"/>
                </a:solidFill>
                <a:latin typeface="Courier New"/>
                <a:ea typeface="Courier New"/>
                <a:cs typeface="Courier New"/>
                <a:sym typeface="Courier New"/>
              </a:rPr>
              <a:t>-- Eliminar cliente inactivo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754880" y="391363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EC8E3"/>
                </a:solidFill>
                <a:latin typeface="Courier New"/>
                <a:ea typeface="Courier New"/>
                <a:cs typeface="Courier New"/>
                <a:sym typeface="Courier New"/>
              </a:rPr>
              <a:t>DELETE FROM clientes WHERE ventas = 0;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457200" y="3822200"/>
            <a:ext cx="3951600" cy="713100"/>
          </a:xfrm>
          <a:prstGeom prst="rect">
            <a:avLst/>
          </a:prstGeom>
          <a:solidFill>
            <a:srgbClr val="E8F7F5"/>
          </a:solidFill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💡  Siempre usá WHERE en UPDATE y DELETE — sin él, afectás TODOS los registros.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457200" y="182880"/>
            <a:ext cx="822960" cy="411480"/>
          </a:xfrm>
          <a:prstGeom prst="roundRect">
            <a:avLst>
              <a:gd fmla="val 13333" name="adj"/>
            </a:avLst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457200" y="18288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DQL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1417320" y="201168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Data Query Language — SELECT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57200" y="713232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Anatomía de una consulta SELECT: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457200" y="1078992"/>
            <a:ext cx="3931920" cy="429768"/>
          </a:xfrm>
          <a:prstGeom prst="roundRect">
            <a:avLst>
              <a:gd fmla="val 12766" name="adj"/>
            </a:avLst>
          </a:prstGeom>
          <a:solidFill>
            <a:srgbClr val="E6F7F4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502920" y="1078992"/>
            <a:ext cx="12344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1783080" y="1078992"/>
            <a:ext cx="23317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columnas a mostrar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3337560" y="1078992"/>
            <a:ext cx="10058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obligatorio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57200" y="1600200"/>
            <a:ext cx="3931920" cy="429768"/>
          </a:xfrm>
          <a:prstGeom prst="roundRect">
            <a:avLst>
              <a:gd fmla="val 12766" name="adj"/>
            </a:avLst>
          </a:prstGeom>
          <a:solidFill>
            <a:srgbClr val="E6F7F4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502920" y="1600200"/>
            <a:ext cx="12344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1783080" y="1600200"/>
            <a:ext cx="23317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tabla de origen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3337560" y="1600200"/>
            <a:ext cx="10058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obligatorio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457200" y="2121408"/>
            <a:ext cx="3931920" cy="429768"/>
          </a:xfrm>
          <a:prstGeom prst="roundRect">
            <a:avLst>
              <a:gd fmla="val 12766" name="adj"/>
            </a:avLst>
          </a:prstGeom>
          <a:solidFill>
            <a:srgbClr val="F0F9FB"/>
          </a:solidFill>
          <a:ln cap="flat" cmpd="sng" w="12700">
            <a:solidFill>
              <a:srgbClr val="D1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502920" y="2121408"/>
            <a:ext cx="12344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1783080" y="2121408"/>
            <a:ext cx="23317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filtrar filas (condición)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3337560" y="2121408"/>
            <a:ext cx="10058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opcional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57200" y="2642616"/>
            <a:ext cx="3931920" cy="429768"/>
          </a:xfrm>
          <a:prstGeom prst="roundRect">
            <a:avLst>
              <a:gd fmla="val 12766" name="adj"/>
            </a:avLst>
          </a:prstGeom>
          <a:solidFill>
            <a:srgbClr val="F0F9FB"/>
          </a:solidFill>
          <a:ln cap="flat" cmpd="sng" w="12700">
            <a:solidFill>
              <a:srgbClr val="D1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502920" y="2642616"/>
            <a:ext cx="12344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1783080" y="2642616"/>
            <a:ext cx="23317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agrupar resultados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3337560" y="2642616"/>
            <a:ext cx="10058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opcional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457200" y="3163824"/>
            <a:ext cx="3931920" cy="429768"/>
          </a:xfrm>
          <a:prstGeom prst="roundRect">
            <a:avLst>
              <a:gd fmla="val 12766" name="adj"/>
            </a:avLst>
          </a:prstGeom>
          <a:solidFill>
            <a:srgbClr val="F0F9FB"/>
          </a:solidFill>
          <a:ln cap="flat" cmpd="sng" w="12700">
            <a:solidFill>
              <a:srgbClr val="D1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502920" y="3163824"/>
            <a:ext cx="12344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ourier New"/>
                <a:ea typeface="Courier New"/>
                <a:cs typeface="Courier New"/>
                <a:sym typeface="Courier New"/>
              </a:rPr>
              <a:t>HAVING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1783080" y="3163824"/>
            <a:ext cx="23317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filtrar grupos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3337560" y="3163824"/>
            <a:ext cx="10058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opcional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457200" y="3685032"/>
            <a:ext cx="3931920" cy="429768"/>
          </a:xfrm>
          <a:prstGeom prst="roundRect">
            <a:avLst>
              <a:gd fmla="val 12766" name="adj"/>
            </a:avLst>
          </a:prstGeom>
          <a:solidFill>
            <a:srgbClr val="F0F9FB"/>
          </a:solidFill>
          <a:ln cap="flat" cmpd="sng" w="12700">
            <a:solidFill>
              <a:srgbClr val="D1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502920" y="3685032"/>
            <a:ext cx="12344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ourier New"/>
                <a:ea typeface="Courier New"/>
                <a:cs typeface="Courier New"/>
                <a:sym typeface="Courier New"/>
              </a:rPr>
              <a:t>ORDER BY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1783080" y="3685032"/>
            <a:ext cx="23317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ordenar el resultado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3337560" y="3685032"/>
            <a:ext cx="10058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opcional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4663440" y="914400"/>
            <a:ext cx="4114800" cy="3794760"/>
          </a:xfrm>
          <a:prstGeom prst="roundRect">
            <a:avLst>
              <a:gd fmla="val 2410" name="adj"/>
            </a:avLst>
          </a:prstGeom>
          <a:solidFill>
            <a:srgbClr val="1A2E3B"/>
          </a:solidFill>
          <a:ln cap="flat" cmpd="sng" w="12700">
            <a:solidFill>
              <a:srgbClr val="1A2E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4846320" y="10515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9F"/>
              </a:buClr>
              <a:buSzPts val="1050"/>
              <a:buFont typeface="Courier New"/>
              <a:buNone/>
            </a:pPr>
            <a:r>
              <a:rPr b="0" i="1" lang="en-US" sz="1050" u="none" cap="none" strike="noStrike">
                <a:solidFill>
                  <a:srgbClr val="5A8A9F"/>
                </a:solidFill>
                <a:latin typeface="Courier New"/>
                <a:ea typeface="Courier New"/>
                <a:cs typeface="Courier New"/>
                <a:sym typeface="Courier New"/>
              </a:rPr>
              <a:t>-- Ventas por categoría &gt; $5000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4846320" y="13716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7EC8E3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4846320" y="1682496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8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A8D8E8"/>
                </a:solidFill>
                <a:latin typeface="Courier New"/>
                <a:ea typeface="Courier New"/>
                <a:cs typeface="Courier New"/>
                <a:sym typeface="Courier New"/>
              </a:rPr>
              <a:t>    categoria,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4846320" y="199339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8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A8D8E8"/>
                </a:solidFill>
                <a:latin typeface="Courier New"/>
                <a:ea typeface="Courier New"/>
                <a:cs typeface="Courier New"/>
                <a:sym typeface="Courier New"/>
              </a:rPr>
              <a:t>    SUM(ventas)  AS total,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4846320" y="230428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8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A8D8E8"/>
                </a:solidFill>
                <a:latin typeface="Courier New"/>
                <a:ea typeface="Courier New"/>
                <a:cs typeface="Courier New"/>
                <a:sym typeface="Courier New"/>
              </a:rPr>
              <a:t>    COUNT(*)     AS cant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4846320" y="2615184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7EC8E3"/>
                </a:solidFill>
                <a:latin typeface="Courier New"/>
                <a:ea typeface="Courier New"/>
                <a:cs typeface="Courier New"/>
                <a:sym typeface="Courier New"/>
              </a:rPr>
              <a:t>FROM ventas_mensuales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4846320" y="292608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7EC8E3"/>
                </a:solidFill>
                <a:latin typeface="Courier New"/>
                <a:ea typeface="Courier New"/>
                <a:cs typeface="Courier New"/>
                <a:sym typeface="Courier New"/>
              </a:rPr>
              <a:t>WHERE año = 2024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4846320" y="3236976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7EC8E3"/>
                </a:solidFill>
                <a:latin typeface="Courier New"/>
                <a:ea typeface="Courier New"/>
                <a:cs typeface="Courier New"/>
                <a:sym typeface="Courier New"/>
              </a:rPr>
              <a:t>GROUP BY categoria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4846320" y="354787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7EC8E3"/>
                </a:solidFill>
                <a:latin typeface="Courier New"/>
                <a:ea typeface="Courier New"/>
                <a:cs typeface="Courier New"/>
                <a:sym typeface="Courier New"/>
              </a:rPr>
              <a:t>HAVING SUM(ventas) &gt; 5000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4846320" y="385876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7EC8E3"/>
                </a:solidFill>
                <a:latin typeface="Courier New"/>
                <a:ea typeface="Courier New"/>
                <a:cs typeface="Courier New"/>
                <a:sym typeface="Courier New"/>
              </a:rPr>
              <a:t>ORDER BY total DESC;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Cláusula WHERE — Filtrar Filas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457200" y="9144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Operadores disponibles: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457200" y="1325880"/>
            <a:ext cx="3566160" cy="530352"/>
          </a:xfrm>
          <a:prstGeom prst="roundRect">
            <a:avLst>
              <a:gd fmla="val 12069" name="adj"/>
            </a:avLst>
          </a:prstGeom>
          <a:solidFill>
            <a:srgbClr val="1A2E3B"/>
          </a:solidFill>
          <a:ln cap="flat" cmpd="sng" w="12700">
            <a:solidFill>
              <a:srgbClr val="1F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457200" y="132588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1737360" y="1325880"/>
            <a:ext cx="21945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F4F6"/>
                </a:solidFill>
                <a:latin typeface="Calibri"/>
                <a:ea typeface="Calibri"/>
                <a:cs typeface="Calibri"/>
                <a:sym typeface="Calibri"/>
              </a:rPr>
              <a:t>Igual 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457200" y="1965960"/>
            <a:ext cx="3566160" cy="530352"/>
          </a:xfrm>
          <a:prstGeom prst="roundRect">
            <a:avLst>
              <a:gd fmla="val 12069" name="adj"/>
            </a:avLst>
          </a:prstGeom>
          <a:solidFill>
            <a:srgbClr val="1A2E3B"/>
          </a:solidFill>
          <a:ln cap="flat" cmpd="sng" w="12700">
            <a:solidFill>
              <a:srgbClr val="1F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457200" y="196596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&lt;&gt; / !=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1737360" y="1965960"/>
            <a:ext cx="21945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F4F6"/>
                </a:solidFill>
                <a:latin typeface="Calibri"/>
                <a:ea typeface="Calibri"/>
                <a:cs typeface="Calibri"/>
                <a:sym typeface="Calibri"/>
              </a:rPr>
              <a:t>Distinto 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457200" y="2606040"/>
            <a:ext cx="3566160" cy="530352"/>
          </a:xfrm>
          <a:prstGeom prst="roundRect">
            <a:avLst>
              <a:gd fmla="val 12069" name="adj"/>
            </a:avLst>
          </a:prstGeom>
          <a:solidFill>
            <a:srgbClr val="1A2E3B"/>
          </a:solidFill>
          <a:ln cap="flat" cmpd="sng" w="12700">
            <a:solidFill>
              <a:srgbClr val="1F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457200" y="260604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&gt;, &lt;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1737360" y="2606040"/>
            <a:ext cx="21945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F4F6"/>
                </a:solidFill>
                <a:latin typeface="Calibri"/>
                <a:ea typeface="Calibri"/>
                <a:cs typeface="Calibri"/>
                <a:sym typeface="Calibri"/>
              </a:rPr>
              <a:t>Mayor / Menor que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457200" y="3246120"/>
            <a:ext cx="3566160" cy="530352"/>
          </a:xfrm>
          <a:prstGeom prst="roundRect">
            <a:avLst>
              <a:gd fmla="val 12069" name="adj"/>
            </a:avLst>
          </a:prstGeom>
          <a:solidFill>
            <a:srgbClr val="1A2E3B"/>
          </a:solidFill>
          <a:ln cap="flat" cmpd="sng" w="12700">
            <a:solidFill>
              <a:srgbClr val="1F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457200" y="324612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BETWEEN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1737360" y="3246120"/>
            <a:ext cx="21945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F4F6"/>
                </a:solidFill>
                <a:latin typeface="Calibri"/>
                <a:ea typeface="Calibri"/>
                <a:cs typeface="Calibri"/>
                <a:sym typeface="Calibri"/>
              </a:rPr>
              <a:t>Rango de valores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4297680" y="1325880"/>
            <a:ext cx="3566160" cy="530352"/>
          </a:xfrm>
          <a:prstGeom prst="roundRect">
            <a:avLst>
              <a:gd fmla="val 12069" name="adj"/>
            </a:avLst>
          </a:prstGeom>
          <a:solidFill>
            <a:srgbClr val="1A2E3B"/>
          </a:solidFill>
          <a:ln cap="flat" cmpd="sng" w="12700">
            <a:solidFill>
              <a:srgbClr val="1F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4297680" y="132588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IN (...)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5577840" y="1325880"/>
            <a:ext cx="21945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F4F6"/>
                </a:solidFill>
                <a:latin typeface="Calibri"/>
                <a:ea typeface="Calibri"/>
                <a:cs typeface="Calibri"/>
                <a:sym typeface="Calibri"/>
              </a:rPr>
              <a:t>Lista de valores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4297680" y="1965960"/>
            <a:ext cx="3566160" cy="530352"/>
          </a:xfrm>
          <a:prstGeom prst="roundRect">
            <a:avLst>
              <a:gd fmla="val 12069" name="adj"/>
            </a:avLst>
          </a:prstGeom>
          <a:solidFill>
            <a:srgbClr val="1A2E3B"/>
          </a:solidFill>
          <a:ln cap="flat" cmpd="sng" w="12700">
            <a:solidFill>
              <a:srgbClr val="1F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4297680" y="196596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LIKE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5577840" y="1965960"/>
            <a:ext cx="21945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F4F6"/>
                </a:solidFill>
                <a:latin typeface="Calibri"/>
                <a:ea typeface="Calibri"/>
                <a:cs typeface="Calibri"/>
                <a:sym typeface="Calibri"/>
              </a:rPr>
              <a:t>Patrón de texto (% y _)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4297680" y="2606040"/>
            <a:ext cx="3566160" cy="530352"/>
          </a:xfrm>
          <a:prstGeom prst="roundRect">
            <a:avLst>
              <a:gd fmla="val 12069" name="adj"/>
            </a:avLst>
          </a:prstGeom>
          <a:solidFill>
            <a:srgbClr val="1A2E3B"/>
          </a:solidFill>
          <a:ln cap="flat" cmpd="sng" w="12700">
            <a:solidFill>
              <a:srgbClr val="1F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4297680" y="260604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IS NULL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5577840" y="2606040"/>
            <a:ext cx="21945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F4F6"/>
                </a:solidFill>
                <a:latin typeface="Calibri"/>
                <a:ea typeface="Calibri"/>
                <a:cs typeface="Calibri"/>
                <a:sym typeface="Calibri"/>
              </a:rPr>
              <a:t>Valor nulo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4297680" y="3246120"/>
            <a:ext cx="3566160" cy="530352"/>
          </a:xfrm>
          <a:prstGeom prst="roundRect">
            <a:avLst>
              <a:gd fmla="val 12069" name="adj"/>
            </a:avLst>
          </a:prstGeom>
          <a:solidFill>
            <a:srgbClr val="1A2E3B"/>
          </a:solidFill>
          <a:ln cap="flat" cmpd="sng" w="12700">
            <a:solidFill>
              <a:srgbClr val="1F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4297680" y="324612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AND / 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5577840" y="3246120"/>
            <a:ext cx="21945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F4F6"/>
                </a:solidFill>
                <a:latin typeface="Calibri"/>
                <a:ea typeface="Calibri"/>
                <a:cs typeface="Calibri"/>
                <a:sym typeface="Calibri"/>
              </a:rPr>
              <a:t>Combinar condiciones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fmla="val 9412" name="adj"/>
            </a:avLst>
          </a:prstGeom>
          <a:solidFill>
            <a:srgbClr val="1A2E3B"/>
          </a:solidFill>
          <a:ln cap="flat" cmpd="sng" w="12700">
            <a:solidFill>
              <a:srgbClr val="1F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640080" y="4069080"/>
            <a:ext cx="7955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A8D8E8"/>
                </a:solidFill>
                <a:latin typeface="Courier New"/>
                <a:ea typeface="Courier New"/>
                <a:cs typeface="Courier New"/>
                <a:sym typeface="Courier New"/>
              </a:rPr>
              <a:t>SELECT nombre, ventas FROM clientes WHERE ventas BETWEEN 5000 AND 20000 AND email LIKE '%@mail.com';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GROUP BY — Agrupar y Agregar Datos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457200" y="89611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Funciones de agregación: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457200" y="1298448"/>
            <a:ext cx="3840480" cy="457200"/>
          </a:xfrm>
          <a:prstGeom prst="roundRect">
            <a:avLst>
              <a:gd fmla="val 14000" name="adj"/>
            </a:avLst>
          </a:prstGeom>
          <a:solidFill>
            <a:srgbClr val="F0F9FB"/>
          </a:solidFill>
          <a:ln cap="flat" cmpd="sng" w="12700">
            <a:solidFill>
              <a:srgbClr val="C5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502920" y="129844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028090"/>
                </a:solidFill>
                <a:latin typeface="Courier New"/>
                <a:ea typeface="Courier New"/>
                <a:cs typeface="Courier New"/>
                <a:sym typeface="Courier New"/>
              </a:rPr>
              <a:t>COUNT(*)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2148840" y="129844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Contar filas del grupo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457200" y="1865376"/>
            <a:ext cx="3840480" cy="457200"/>
          </a:xfrm>
          <a:prstGeom prst="roundRect">
            <a:avLst>
              <a:gd fmla="val 14000" name="adj"/>
            </a:avLst>
          </a:prstGeom>
          <a:solidFill>
            <a:srgbClr val="F0F9FB"/>
          </a:solidFill>
          <a:ln cap="flat" cmpd="sng" w="12700">
            <a:solidFill>
              <a:srgbClr val="C5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502920" y="1865376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028090"/>
                </a:solidFill>
                <a:latin typeface="Courier New"/>
                <a:ea typeface="Courier New"/>
                <a:cs typeface="Courier New"/>
                <a:sym typeface="Courier New"/>
              </a:rPr>
              <a:t>SUM(col)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2148840" y="1865376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Sumar valores numéricos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457200" y="2432304"/>
            <a:ext cx="3840480" cy="457200"/>
          </a:xfrm>
          <a:prstGeom prst="roundRect">
            <a:avLst>
              <a:gd fmla="val 14000" name="adj"/>
            </a:avLst>
          </a:prstGeom>
          <a:solidFill>
            <a:srgbClr val="F0F9FB"/>
          </a:solidFill>
          <a:ln cap="flat" cmpd="sng" w="12700">
            <a:solidFill>
              <a:srgbClr val="C5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502920" y="2432304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028090"/>
                </a:solidFill>
                <a:latin typeface="Courier New"/>
                <a:ea typeface="Courier New"/>
                <a:cs typeface="Courier New"/>
                <a:sym typeface="Courier New"/>
              </a:rPr>
              <a:t>AVG(col)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2148840" y="2432304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Calcular el promedio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457200" y="2999232"/>
            <a:ext cx="3840480" cy="457200"/>
          </a:xfrm>
          <a:prstGeom prst="roundRect">
            <a:avLst>
              <a:gd fmla="val 14000" name="adj"/>
            </a:avLst>
          </a:prstGeom>
          <a:solidFill>
            <a:srgbClr val="F0F9FB"/>
          </a:solidFill>
          <a:ln cap="flat" cmpd="sng" w="12700">
            <a:solidFill>
              <a:srgbClr val="C5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502920" y="2999232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028090"/>
                </a:solidFill>
                <a:latin typeface="Courier New"/>
                <a:ea typeface="Courier New"/>
                <a:cs typeface="Courier New"/>
                <a:sym typeface="Courier New"/>
              </a:rPr>
              <a:t>MAX(col)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2148840" y="299923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Obtener el valor máximo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457200" y="3566160"/>
            <a:ext cx="3840480" cy="457200"/>
          </a:xfrm>
          <a:prstGeom prst="roundRect">
            <a:avLst>
              <a:gd fmla="val 14000" name="adj"/>
            </a:avLst>
          </a:prstGeom>
          <a:solidFill>
            <a:srgbClr val="F0F9FB"/>
          </a:solidFill>
          <a:ln cap="flat" cmpd="sng" w="12700">
            <a:solidFill>
              <a:srgbClr val="C5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502920" y="356616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028090"/>
                </a:solidFill>
                <a:latin typeface="Courier New"/>
                <a:ea typeface="Courier New"/>
                <a:cs typeface="Courier New"/>
                <a:sym typeface="Courier New"/>
              </a:rPr>
              <a:t>MIN(col)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2148840" y="356616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Obtener el valor mínimo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4572000" y="868680"/>
            <a:ext cx="4206240" cy="2560320"/>
          </a:xfrm>
          <a:prstGeom prst="roundRect">
            <a:avLst>
              <a:gd fmla="val 3571" name="adj"/>
            </a:avLst>
          </a:prstGeom>
          <a:solidFill>
            <a:srgbClr val="1A2E3B"/>
          </a:solidFill>
          <a:ln cap="flat" cmpd="sng" w="12700">
            <a:solidFill>
              <a:srgbClr val="1A2E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4754880" y="100584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9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5A8A9F"/>
                </a:solidFill>
                <a:latin typeface="Courier New"/>
                <a:ea typeface="Courier New"/>
                <a:cs typeface="Courier New"/>
                <a:sym typeface="Courier New"/>
              </a:rPr>
              <a:t>-- Total ventas por ciudad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4754880" y="125272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7EC8E3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4754880" y="149961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A8D8E8"/>
                </a:solidFill>
                <a:latin typeface="Courier New"/>
                <a:ea typeface="Courier New"/>
                <a:cs typeface="Courier New"/>
                <a:sym typeface="Courier New"/>
              </a:rPr>
              <a:t>    ciudad,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4754880" y="174650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A8D8E8"/>
                </a:solidFill>
                <a:latin typeface="Courier New"/>
                <a:ea typeface="Courier New"/>
                <a:cs typeface="Courier New"/>
                <a:sym typeface="Courier New"/>
              </a:rPr>
              <a:t>    SUM(ventas) AS total,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4754880" y="199339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A8D8E8"/>
                </a:solidFill>
                <a:latin typeface="Courier New"/>
                <a:ea typeface="Courier New"/>
                <a:cs typeface="Courier New"/>
                <a:sym typeface="Courier New"/>
              </a:rPr>
              <a:t>    COUNT(*)   AS clientes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4754880" y="224028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7EC8E3"/>
                </a:solidFill>
                <a:latin typeface="Courier New"/>
                <a:ea typeface="Courier New"/>
                <a:cs typeface="Courier New"/>
                <a:sym typeface="Courier New"/>
              </a:rPr>
              <a:t>FROM clientes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4754880" y="248716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7EC8E3"/>
                </a:solidFill>
                <a:latin typeface="Courier New"/>
                <a:ea typeface="Courier New"/>
                <a:cs typeface="Courier New"/>
                <a:sym typeface="Courier New"/>
              </a:rPr>
              <a:t>GROUP BY ciudad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4754880" y="273405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7EC8E3"/>
                </a:solidFill>
                <a:latin typeface="Courier New"/>
                <a:ea typeface="Courier New"/>
                <a:cs typeface="Courier New"/>
                <a:sym typeface="Courier New"/>
              </a:rPr>
              <a:t>HAVING COUNT(*) &gt;=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4754880" y="29809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7EC8E3"/>
                </a:solidFill>
                <a:latin typeface="Courier New"/>
                <a:ea typeface="Courier New"/>
                <a:cs typeface="Courier New"/>
                <a:sym typeface="Courier New"/>
              </a:rPr>
              <a:t>ORDER BY total DESC;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4572000" y="356616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Resultado: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4" name="Google Shape;324;p10"/>
          <p:cNvGraphicFramePr/>
          <p:nvPr/>
        </p:nvGraphicFramePr>
        <p:xfrm>
          <a:off x="4572000" y="388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{BDBF0B31-6EB3-4F33-BF96-8B33F59DA3BE}</a:tableStyleId>
              </a:tblPr>
              <a:tblGrid>
                <a:gridCol w="1402075"/>
                <a:gridCol w="1402075"/>
                <a:gridCol w="140207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ciudad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total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clientes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A89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D1B2A"/>
                          </a:solidFill>
                        </a:rPr>
                        <a:t>Buenos Aires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D1B2A"/>
                          </a:solidFill>
                        </a:rPr>
                        <a:t>45.200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D1B2A"/>
                          </a:solidFill>
                        </a:rPr>
                        <a:t>12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CF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D1B2A"/>
                          </a:solidFill>
                        </a:rPr>
                        <a:t>Córdoba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D1B2A"/>
                          </a:solidFill>
                        </a:rPr>
                        <a:t>28.750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D1B2A"/>
                          </a:solidFill>
                        </a:rPr>
                        <a:t>8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CF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D1B2A"/>
                          </a:solidFill>
                        </a:rPr>
                        <a:t>Rosario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D1B2A"/>
                          </a:solidFill>
                        </a:rPr>
                        <a:t>19.100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D1B2A"/>
                          </a:solidFill>
                        </a:rPr>
                        <a:t>5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E5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C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SQL + Python: Integración Práctica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457200" y="960120"/>
            <a:ext cx="3931920" cy="1325880"/>
          </a:xfrm>
          <a:prstGeom prst="roundRect">
            <a:avLst>
              <a:gd fmla="val 6897" name="adj"/>
            </a:avLst>
          </a:prstGeom>
          <a:solidFill>
            <a:srgbClr val="1A2E3B"/>
          </a:solidFill>
          <a:ln cap="flat" cmpd="sng" w="254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594360" y="1051560"/>
            <a:ext cx="1005840" cy="320040"/>
          </a:xfrm>
          <a:prstGeom prst="roundRect">
            <a:avLst>
              <a:gd fmla="val 14286" name="adj"/>
            </a:avLst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594360" y="1051560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Stdlib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1737360" y="105156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00A896"/>
                </a:solidFill>
                <a:latin typeface="Courier New"/>
                <a:ea typeface="Courier New"/>
                <a:cs typeface="Courier New"/>
                <a:sym typeface="Courier New"/>
              </a:rPr>
              <a:t>sqlite3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594360" y="146304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6"/>
                </a:solidFill>
                <a:latin typeface="Calibri"/>
                <a:ea typeface="Calibri"/>
                <a:cs typeface="Calibri"/>
                <a:sym typeface="Calibri"/>
              </a:rPr>
              <a:t>Motor embebido incluido en Python. Sin instalación. Ideal para prototipado y archivos locales.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4846320" y="960120"/>
            <a:ext cx="3931920" cy="1325880"/>
          </a:xfrm>
          <a:prstGeom prst="roundRect">
            <a:avLst>
              <a:gd fmla="val 6897" name="adj"/>
            </a:avLst>
          </a:prstGeom>
          <a:solidFill>
            <a:srgbClr val="1A2E3B"/>
          </a:solidFill>
          <a:ln cap="flat" cmpd="sng" w="254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4983480" y="1051560"/>
            <a:ext cx="1005840" cy="320040"/>
          </a:xfrm>
          <a:prstGeom prst="roundRect">
            <a:avLst>
              <a:gd fmla="val 14286" name="adj"/>
            </a:avLst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1"/>
          <p:cNvSpPr/>
          <p:nvPr/>
        </p:nvSpPr>
        <p:spPr>
          <a:xfrm>
            <a:off x="4983480" y="1051560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Recomendado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6126480" y="105156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DuckDB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4983480" y="146304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6"/>
                </a:solidFill>
                <a:latin typeface="Calibri"/>
                <a:ea typeface="Calibri"/>
                <a:cs typeface="Calibri"/>
                <a:sym typeface="Calibri"/>
              </a:rPr>
              <a:t>Motor analítico in-process. Muy rápido con DataFrames de pandas. Perfecto para ciencia de datos.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457200" y="2423160"/>
            <a:ext cx="8229600" cy="2468880"/>
          </a:xfrm>
          <a:prstGeom prst="roundRect">
            <a:avLst>
              <a:gd fmla="val 3704" name="adj"/>
            </a:avLst>
          </a:prstGeom>
          <a:solidFill>
            <a:srgbClr val="1A2E3B"/>
          </a:solidFill>
          <a:ln cap="flat" cmpd="sng" w="12700">
            <a:solidFill>
              <a:srgbClr val="1F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685800" y="256032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EC8E3"/>
                </a:solidFill>
                <a:latin typeface="Courier New"/>
                <a:ea typeface="Courier New"/>
                <a:cs typeface="Courier New"/>
                <a:sym typeface="Courier New"/>
              </a:rPr>
              <a:t>import sqlite3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685800" y="2779776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EC8E3"/>
                </a:solidFill>
                <a:latin typeface="Courier New"/>
                <a:ea typeface="Courier New"/>
                <a:cs typeface="Courier New"/>
                <a:sym typeface="Courier New"/>
              </a:rPr>
              <a:t>import pandas as pd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685800" y="299923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685800" y="3218688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9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5A8A9F"/>
                </a:solidFill>
                <a:latin typeface="Courier New"/>
                <a:ea typeface="Courier New"/>
                <a:cs typeface="Courier New"/>
                <a:sym typeface="Courier New"/>
              </a:rPr>
              <a:t># Conectarse a una base de datos (o crearla)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685800" y="3438144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A8D8E8"/>
                </a:solidFill>
                <a:latin typeface="Courier New"/>
                <a:ea typeface="Courier New"/>
                <a:cs typeface="Courier New"/>
                <a:sym typeface="Courier New"/>
              </a:rPr>
              <a:t>conn = sqlite3.connect('ventas.db')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685800" y="365760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685800" y="3877056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9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5A8A9F"/>
                </a:solidFill>
                <a:latin typeface="Courier New"/>
                <a:ea typeface="Courier New"/>
                <a:cs typeface="Courier New"/>
                <a:sym typeface="Courier New"/>
              </a:rPr>
              <a:t># Ejecutar una consulta SQL y cargar en DataFrame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685800" y="409651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A8D8E8"/>
                </a:solidFill>
                <a:latin typeface="Courier New"/>
                <a:ea typeface="Courier New"/>
                <a:cs typeface="Courier New"/>
                <a:sym typeface="Courier New"/>
              </a:rPr>
              <a:t>query = 'SELECT ciudad, SUM(ventas) FROM clientes GROUP BY ciudad'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685800" y="4315968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A8D8E8"/>
                </a:solidFill>
                <a:latin typeface="Courier New"/>
                <a:ea typeface="Courier New"/>
                <a:cs typeface="Courier New"/>
                <a:sym typeface="Courier New"/>
              </a:rPr>
              <a:t>df = pd.read_sql_query(query, conn)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685800" y="4535424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A8D8E8"/>
                </a:solidFill>
                <a:latin typeface="Courier New"/>
                <a:ea typeface="Courier New"/>
                <a:cs typeface="Courier New"/>
                <a:sym typeface="Courier New"/>
              </a:rPr>
              <a:t>print(df.head())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Resumen de la Unidad 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457200" y="1005840"/>
            <a:ext cx="8229600" cy="676656"/>
          </a:xfrm>
          <a:prstGeom prst="roundRect">
            <a:avLst>
              <a:gd fmla="val 10811" name="adj"/>
            </a:avLst>
          </a:prstGeom>
          <a:solidFill>
            <a:srgbClr val="1A2E3B"/>
          </a:solidFill>
          <a:ln cap="flat" cmpd="sng" w="12700">
            <a:solidFill>
              <a:srgbClr val="1F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1" name="Google Shape;3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179576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2"/>
          <p:cNvSpPr/>
          <p:nvPr/>
        </p:nvSpPr>
        <p:spPr>
          <a:xfrm>
            <a:off x="1097280" y="1005840"/>
            <a:ext cx="74066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F4F6"/>
                </a:solidFill>
                <a:latin typeface="Calibri"/>
                <a:ea typeface="Calibri"/>
                <a:cs typeface="Calibri"/>
                <a:sym typeface="Calibri"/>
              </a:rPr>
              <a:t>SQL es el estándar para consultar bases de datos relacionales (&gt;80% del mundo empresarial)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457200" y="1828800"/>
            <a:ext cx="8229600" cy="676656"/>
          </a:xfrm>
          <a:prstGeom prst="roundRect">
            <a:avLst>
              <a:gd fmla="val 10811" name="adj"/>
            </a:avLst>
          </a:prstGeom>
          <a:solidFill>
            <a:srgbClr val="1A2E3B"/>
          </a:solidFill>
          <a:ln cap="flat" cmpd="sng" w="12700">
            <a:solidFill>
              <a:srgbClr val="1F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4" name="Google Shape;36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002536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2"/>
          <p:cNvSpPr/>
          <p:nvPr/>
        </p:nvSpPr>
        <p:spPr>
          <a:xfrm>
            <a:off x="1097280" y="1828800"/>
            <a:ext cx="74066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F4F6"/>
                </a:solidFill>
                <a:latin typeface="Calibri"/>
                <a:ea typeface="Calibri"/>
                <a:cs typeface="Calibri"/>
                <a:sym typeface="Calibri"/>
              </a:rPr>
              <a:t>Los sublenguajes DDL, DML y DQL cubren: definir, modificar y consultar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457200" y="2651760"/>
            <a:ext cx="8229600" cy="676656"/>
          </a:xfrm>
          <a:prstGeom prst="roundRect">
            <a:avLst>
              <a:gd fmla="val 10811" name="adj"/>
            </a:avLst>
          </a:prstGeom>
          <a:solidFill>
            <a:srgbClr val="1A2E3B"/>
          </a:solidFill>
          <a:ln cap="flat" cmpd="sng" w="12700">
            <a:solidFill>
              <a:srgbClr val="1F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7" name="Google Shape;36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2825496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2"/>
          <p:cNvSpPr/>
          <p:nvPr/>
        </p:nvSpPr>
        <p:spPr>
          <a:xfrm>
            <a:off x="1097280" y="2651760"/>
            <a:ext cx="74066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F4F6"/>
                </a:solidFill>
                <a:latin typeface="Calibri"/>
                <a:ea typeface="Calibri"/>
                <a:cs typeface="Calibri"/>
                <a:sym typeface="Calibri"/>
              </a:rPr>
              <a:t>SELECT + WHERE + GROUP BY son las cláusulas esenciales para cualquier análisis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457200" y="3474720"/>
            <a:ext cx="8229600" cy="676656"/>
          </a:xfrm>
          <a:prstGeom prst="roundRect">
            <a:avLst>
              <a:gd fmla="val 10811" name="adj"/>
            </a:avLst>
          </a:prstGeom>
          <a:solidFill>
            <a:srgbClr val="1A2E3B"/>
          </a:solidFill>
          <a:ln cap="flat" cmpd="sng" w="12700">
            <a:solidFill>
              <a:srgbClr val="1F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0" name="Google Shape;370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" y="3648456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2"/>
          <p:cNvSpPr/>
          <p:nvPr/>
        </p:nvSpPr>
        <p:spPr>
          <a:xfrm>
            <a:off x="1097280" y="3474720"/>
            <a:ext cx="74066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F4F6"/>
                </a:solidFill>
                <a:latin typeface="Calibri"/>
                <a:ea typeface="Calibri"/>
                <a:cs typeface="Calibri"/>
                <a:sym typeface="Calibri"/>
              </a:rPr>
              <a:t>sqlite3 y DuckDB permiten integrar SQL directamente desde Python y pandas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457200" y="4389120"/>
            <a:ext cx="8229600" cy="548640"/>
          </a:xfrm>
          <a:prstGeom prst="roundRect">
            <a:avLst>
              <a:gd fmla="val 13333" name="adj"/>
            </a:avLst>
          </a:prstGeom>
          <a:solidFill>
            <a:srgbClr val="0F2030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🚀  Próxima unidad: integración avanzada de SQL con pandas, SQLAlchemy y construcción de pipelines de datos reproducibles.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2026-06-08T21:39:54Z</dcterms:created>
  <dc:creator>PptxGenJS</dc:creator>
</cp:coreProperties>
</file>